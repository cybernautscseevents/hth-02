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0409fde9-9320-75dd-8dc5-18de7eb9f93a}">
          <p14:sldIdLst>
            <p14:sldId id="256"/>
          </p14:sldIdLst>
        </p14:section>
        <p14:section name="01 Problem Understanding" id="{cd61a19b-50a8-f045-dfe6-985dfdc88e9f}">
          <p14:sldIdLst>
            <p14:sldId id="257"/>
          </p14:sldIdLst>
        </p14:section>
        <p14:section name="02 Existing Solutions &amp; Gap" id="{3da7e5c8-be94-405a-85b7-0600ed11e519}">
          <p14:sldIdLst>
            <p14:sldId id="258"/>
          </p14:sldIdLst>
        </p14:section>
        <p14:section name="03 Proposed Solution" id="{f187c065-a3a8-76ff-4c37-3a641348d28b}">
          <p14:sldIdLst>
            <p14:sldId id="259"/>
          </p14:sldIdLst>
        </p14:section>
        <p14:section name="04 Innovation &amp; USP" id="{e7557cd9-27fd-9900-3655-501a1b374752}">
          <p14:sldIdLst>
            <p14:sldId id="260"/>
          </p14:sldIdLst>
        </p14:section>
        <p14:section name="05 How the Solution Works" id="{e346388c-58e1-91dc-5c83-a153e8705064}">
          <p14:sldIdLst>
            <p14:sldId id="261"/>
          </p14:sldIdLst>
        </p14:section>
        <p14:section name="06 Technology Stack" id="{387f47cc-940b-f601-540e-474da7e2649c}">
          <p14:sldIdLst>
            <p14:sldId id="262"/>
          </p14:sldIdLst>
        </p14:section>
        <p14:section name="07 System Architecture" id="{356d48b5-e2dc-851c-8fc4-ec2a3e54ed8a}">
          <p14:sldIdLst>
            <p14:sldId id="263"/>
            <p14:sldId id="264"/>
          </p14:sldIdLst>
        </p14:section>
        <p14:section name="08 Technical Feasibility" id="{254af7e6-3cae-f0c1-86fb-fb93032e25f4}">
          <p14:sldIdLst>
            <p14:sldId id="265"/>
          </p14:sldIdLst>
        </p14:section>
        <p14:section name="09 Future Scope" id="{e1f0f276-d70d-bfe4-aa83-ac0f2ff78d84}">
          <p14:sldIdLst>
            <p14:sldId id="266"/>
          </p14:sldIdLst>
        </p14:section>
        <p14:section name="10 Conclusion" id="{2b63b01a-4923-3b2a-d90a-6bd68773a85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(30 s): "We are team HC-03. Our project is the Antibiotic Stewardship Copilot."
One line: it checks every antibiotic order against India's national treatment guideline (NCDC 2025), the patient's kidney function, allergies and culture results. It tells the pharmacist what to look at, and the pharmacist makes every decision.
The card on the right is real engine output from our synthetic demo patient SYN-DEMO-06. It flags a pip-taz dose that is too high for the patient's kidney function and cites the exact table and page. We will show this live.
Keep repeating: "The engine suggests; the pharmacist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(60 s):
- HC-03 asks us to check antibiotic prescriptions against guidelines and resistance, flag wrong drug, dose, duration or no culture, and suggest safer options FOR PHARMACIST APPROVAL. That last phrase shaped our design.
- AMR is already a leading cause of death: 1.27 million deaths directly attributable and 4.95 million associated in 2019 (GRAM study, Lancet 2022).
- The UN 2024 declaration set a target that 70% of human antibiotic use should come from WHO "Access" drugs by 2030. Our dashboard tracks the Access share of orders against that target.
- In Indian hospitals the stewardship pharmacist must read handwritten, brand-name prescriptions and cross-check a guideline with 87 sections and 496 regimens (counted in the machine-readable NCDC dataset we imported), plus kidney function, allergies and culture results.
If asked for India-specific numbers: we deliberately quote only figures we could verify from the primary source.
Also say: 4.95 million deaths were associated with a drug-resistant infection in 2019 (same GRAM study). The NCDC 2025 guideline spans 87 sections and 496 regimens; dose also depends on kidney function, allergy and culture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(60 s):
- Today stewardship relies on pharmacists and ID physicians reviewing orders by hand. It is the gold standard but it does not scale to every order.
- Guideline PDFs are authoritative but static: the pharmacist still has to combine them with this patient's creatinine, allergies and culture.
- Generic EHR alerts fire on interactions, but they are not built around the NCDC syndrome guideline, and when data is missing you often just get no alert, which looks like a pass.
- Chatbots are fluent but can invent a dose or a drug, and you cannot audit them.
Gap: patient-specific checks against the Indian guideline + explicit "cannot assess" + citations + a signed, audited decision.
Q&amp;A caution: do not name or criticise specific commercial products; we did not benchmark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(75 s):
- Input: the primary path is a typed prescription. A photo can go through OCR, but OCR is experimental and only produces text; it never decides which drug it is.
- Processing is fully deterministic. The parser pulls dose, frequency, route and duration with strict patterns. If two readings disagree, the field is left empty.
- R0 is a gate: if we are not sure which drug a line names, no other rule runs on it.
- Then 9 per-order rules R1 to R9, culture rules C1 and C3 to C9, and a DrugBank lookup for every drug pair.
- Every check returns PASS, FLAG or CANNOT_ASSESS with a severity, an action and a cited source.
- Output goes to the pharmacist, who reviews each finding and signs a plan. Everything is in an append-only audit log, and the episode comes back for a 48-hour time-out.
Defend: "Why no C2?" The numbering skips C2; there is no implemented C2 rule.
On-slide numbers: 18 rules = R0–R9 per order plus C1, C3–C9 culture rules; interactions = every drug pair looked up in DrugBank.
How it answers HC-03: wrong drug → R1, R2, C3; wrong dose → R3, R4; wrong duration → R5; no culture → C1; safer option → switch suggestion or C4 step-down.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(75 s): pick three cards to stress. Lead with CANNOT_ASSESS.
- CANNOT_ASSESS: many systems skip a check when data is missing, which looks like a pass. We show the gap, name the missing input, and the backend rejects "Approve" on it (review.py raises; the API returns 422).
- Citations: the 13 hand-checked syndromes store a verbatim quote, section and page; 93 more were imported only where numbers convert exactly.
- R0 gate: fuzzy matching (difflib, cutoff 0.8) only proposes candidates; it never accepts.
- Reproducible: ruleset_version is a hash of the YAML files, so every result names the exact guideline data it used.
- LLM: optional, explained on slide 9.
Why choose it: it is honest about uncertainty, auditable, and works offline without any model.
Why choose it: it works fully without any AI model, it is honest about what it cannot check, every result is cited, and every decision is audited. Each evaluation also stores ruleset_version (e.g. ncdc-ntg-2025:cef5e09f0078), and it covers 106 NCDC 2025 syndrome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(90 s, then switch to the live demo):
Stages 1–6 are the five-stage wizard in the frontend plus the signed plan. Blue boxes are pharmacist actions, teal boxes are the system. The amber boxes are the decision points where the system stops and asks a human.
- Uncertain drug name: AMBIGUOUS, choose from offered candidates.
- Earlier inputs edited: later results are retired (frontend/lib/workflow.ts), so nobody acts on a stale result.
- Missing input: CANNOT_ASSESS, and the reviewer cannot Approve it; Modify or Remove needs a reason code.
- Every non-PASS finding must be reviewed before the plan can be signed.
Live demo (sign in as priya / stewardship):
1. New review → Typed prescription → paste the text shown. Four orders: pip-taz is identified as an antibiotic, the other three as non-antibiotics.
2. Clinical context → patient ID SYN-DEMO-06 → Fetch record → setting WARD → Run Evaluation.
3. Result FLAGGED. R4_RENAL: "Daily dose 18000 mg exceeds the renal limit of 13500 mg/day at estimated creatinine clearance 24 mL/min." Source: ICMR 2019 Table 14.1 p.165.
4. What-if: creatinine 1.5 → CrCl 38 → still FLAG; 1.0 → CrCl 57 → PASS. Same rules, different inputs, nothing stored.
5. DDI: two DrugBank interactions (paracetamol with pantoprazole and with ondansetron). Three pairs are CANNOT_ASSESS because the combination pip-taz is not in the DrugBank index. Say: "We would rather say can't check than safe."
6. Review: Approve R4; show Approve is blocked on CANNOT_ASSESS; use Modify/Remove with a reason. Final plan: MODIFY pip-taz with a reason → sign → open Audit log.
Backup scenes: SYN-DEMO-12 (C4 step-down to amikacin), SYN-DEMO-08 (R1 HIGH: no antibiotic for viral URTI). Fallback if the backend fails: frontend mock mode (NEXT_PUBLIC_USE_MOCK=true).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(60 s) and how to justify choices:
- FastAPI + Pydantic v2: the engine's own frozen Pydantic models validate HTTP requests, so invalid input returns 422 automatically. The API layer is thin; its docstring says no clinical logic lives there.
- Pure Python rule engine with ports (typing.Protocol in ports.py): three people built catalog, rule pack and engine in parallel, tests use fakes, and a hospital can swap data sources.
- YAML rule pack and CSVs: clinicians can read and diff the data. Every row has a source.
- Storage: honest answer: episodes and evaluations are in memory; the audit log is an append-only JSONL file that survives restarts. A database is the next step behind the existing AuditLog protocol.
- ChromaDB for retrieving guideline passages: one query, so LangChain would add dependencies without adding capability.
- AI is optional: any OpenAI-compatible endpoint; off by default; the app is fully functional without it.
Data: NCDC v2.0 is the single source of every rule-pack row. AMRSN 2023 national susceptibility is advisory only: tertiary-care network data, not this hospital's antibiogram; never a rule input. Licences: WHO AWaRe CC BY-NC-SA; AMRIE non-commercial; DrugBank licensed export, never committed.
Full data list if asked: NCDC NTG v2.0 2025 (R1 R3 R5 R9 C1 C4, 106 codes); WHO AWaRe 2025 (R2 C1 C4, 274 drugs); ICMR 2019 Table 14.1 + Indian PI, FDA/MHRA fallback (R4, 83 bands); CLSI rules via WHONET AMRIE (C3 C4 C8 C9, 7,225 rows); FDA labels (R7 R8, 9 + 39 rows); DrugBank 5.1 local licensed export (DDI); ICMR AMRSN 2023 (advisory panel only, 1,414 rows). Also: ChromaDB retrieves guideline passages; no cloud deployment yet, it runs on localhost.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then down (90 s):
1–3: the browser posts the prescription and context (POST /api/episodes, then /episodes/{id}/evaluate). api.py has no clinical logic; it hands the request to StewardshipService.
4: intake.py parses the lines and drugs.py Catalog.normalize fixes each drug's identity, building an immutable Episode.
5: episode.evaluate_episode() runs the R0 gate and isolates crashes (a rule that throws becomes CANNOT_ASSESS HIGH, status INCOMPLETE).
6: rules.py, renal.py and culture.py run R1–R9 and C1, C3–C9 against read-only data: the NCDC YAML rule pack and the AWaRe, renal, intrinsic-resistance, pregnancy and drug-disease CSVs.
7: the service adds the fixed action (advice.py), guideline passages (evidence.py, ChromaDB) and DrugBank pair checks (ddi.py).
8: the EvaluationReport goes back to the browser; stage 4 shows the findings.
9–10: the pharmacist's decisions go through review.py and treatment_plan.py validation into the append-only audit.jsonl; timeout.py brings the episode back after 48 hours.
Violet dashed lane: optional AI. summary.py and chat.py read a copy of the finished report; the guards check the text; any failure falls back to the rule-based summary. OCR also sits here: it only produces text for the same parser.
Design points to defend:
- Pure core: rules, culture, timeout and episode do no I/O.
- Ports and adapters (ports.py): fakes in tests, real data in production.
- State: episodes, evaluations, reviews and plans are in memory in the service; only the audit log persists.
- CORS allows localhost:3000 only; no backend auth yet (demo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mentor's hallucination concern. Say it directly (90 s):
1. The deterministic rule engine produces every clinical finding, outcome, severity, action and citation. The LLM is optional and off by default.
2. The LLM does two jobs only: summary.py rewrites the finished results into a paragraph; chat.py answers questions about one evaluation.
3. It cannot change the findings: it runs after evaluate_episode() returns, receives a de-identified copy (no patient ID, name or demographics), and its text is stored beside the report (EvaluationReport.summary). review.py and treatment_plan.py never read it. The findings the pharmacist reviews come straight from the engine.
4. Every response goes through grounding_problem() in summary.py: rejected for an invented number, worded dose or frequency, drug or drug class, guideline body (WHO, IDSA, NICE…), an action verb no rule suggested, the word "safe" or reassurance while findings exist, or (summary) failing to say "cannot be assessed". Think blocks are stripped first.
5. Any failure, provider error, timeout or HTTP 429 → the rule-based TemplateSummarizer text, with a fallback_reason. In chat the answer is withheld with a fixed message. The UI labels AI_WORDED vs RULE_BASED, with the notice "Explanatory only".
Be honest about limits. Do NOT say hallucinations are impossible:
- The checks are word- and number-based. A sentence that pairs a real number with the wrong drug, using only allowed words, could pass.
- We have not measured how often a real model passes the guards. The 60 tests in test_summary.py (48) and test_chat.py (12) use scripted outputs.
- Containment: AI text is labelled and secondary, the findings are always shown, and the pharmacist reviews the findings, not the summary.
Other controls if asked: temperature 0, 700 max tokens, 20 s timeout, key rotation with 429 back-off, chat capped at 20 provider calls per evaluation, repeated questions cached.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(90 s):
Can it be built? It is built. The typed path runs end to end through the real API and frontend.
- Working and tested: everything in green. 517 pytest tests passed when we re-ran them on 9 Oct 2026 (API end-to-end 76, OCR parsing 116, rule engine 92, guideline data 81, LLM guards 60, DDI 38, catalog 23, other 31).
- Real data: on de-identified typed antibiotic orders from MIMIC-IV Demo 2.2, 162 of 181 lines became orders with 0 wrong dose, frequency or route. On 13 hand-checked real handwritten prescriptions (MIRAGE) OCR read only 27% of names correctly, but accepted 0 wrong drugs: uncertain names stop at R0. That is why OCR is experimental and typed input is the primary path.
- Not built: database (state is in memory, the audit log persists), real authentication, WISCA coverage estimates (the CoverageEstimator port exists, no implementation), FHIR, paediatric dosing.
24-hour strategy: the core lead built schemas.py and ports.py first so two teammates could build the drug catalog and rule pack in parallel against fakes. Merge at hour 12–14, API and UI at 14–19 (docs/CORE_SPEC.md). R7–R9, DDI, the NCDC import and the guarded LLM came after.
Do not claim: clinical validation, improved outcomes, OCR accuracy, or LLM accuracy.
On-slide figures, in full: 517 pytest tests passed (7.3 s, re-run 9 Oct 2026). MIMIC-IV demo typed orders: 162 of 181 lines built, 0 wrong dose, frequency or route. 13 real handwritten prescriptions: OCR read only 27% of names but accepted 0 wrong drugs.
Challenges → mitigation if asked: messy brand-name Rx → strict parser, fuzzy matches only as candidates; guideline at scale → import only exact numbers; missing data → CANNOT_ASSESS names it; a rule crashes → isolated, status INCOMPLETE; LLM invents content → guards + rule-based fallback; DrugBank absent → DDI degrades to CANNOT_ASSESS.
Not proven: clinical benefit; no pharmacist study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(60 s):
- Harden: the AuditLog and record-source interfaces already exist, so a database and a FHIR adapter plug in behind them without changing the engine.
- Integrate: a hospital formulary export extends the brand list (today 4 GSK brands from cited prescribing information). A local antibiogram enables WISCA empiric coverage estimates through the CoverageEstimator port.
- AI: improve OCR line grouping; replace hashed bag-of-words retrieval with sentence embeddings; measure how often a real model passes the guards; add claim-level checks, e.g. that each number is attached to the right drug.
- Expand: the rule pack is YAML with a fixed schema, so another country's guideline is a data task, not an engine rewrite. Regional-language explanations and an on-premise model (Ollama via HC03_LLM_BASE_URL) so no data leaves the hospital.
- Deployment: pilot with one pharmacy team, then a prospective study comparing with pharmacist review, then scale.
These are plans, not current features. Say "next" rather than "we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(30 s): read the headline sentence slowly. Then the three benefits in one breath each.
Final line: "The engine suggests; the pharmacist decides." Then invite questions.
Quick Q&amp;A reminders:
- Why rules, not an LLM? Reproducible, explainable, testable, cites its source; an LLM can invent doses.
- Is it a medical device / safe to deploy today? No: a hackathon prototype, no clinical validation, demo login, in-memory state. Decision support for a pharmacist.
- Children? R3 and R4 return CANNOT_ASSESS under 18; paediatric dosing is out of scope.
- Server restart? Episodes are lost; the audit log survives.
- Determinism? Findings are deterministic for the same inputs and time; inputs_hash includes the evaluation time.
- Never say "safe", "accurate" or "clinically validated" about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WIS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6000" y="0"/>
            <a:ext cx="0" cy="6858000"/>
          </a:xfrm>
          <a:prstGeom prst="line">
            <a:avLst/>
          </a:prstGeom>
          <a:noFill/>
          <a:ln w="6350">
            <a:solidFill>
              <a:srgbClr val="EFEFEC"/>
            </a:solidFill>
            <a:prstDash val="solid"/>
          </a:ln>
        </p:spPr>
      </p:sp>
      <p:sp>
        <p:nvSpPr>
          <p:cNvPr id="3" name="Shape 1"/>
          <p:cNvSpPr/>
          <p:nvPr/>
        </p:nvSpPr>
        <p:spPr>
          <a:xfrm>
            <a:off x="2032000" y="0"/>
            <a:ext cx="0" cy="6858000"/>
          </a:xfrm>
          <a:prstGeom prst="line">
            <a:avLst/>
          </a:prstGeom>
          <a:noFill/>
          <a:ln w="6350">
            <a:solidFill>
              <a:srgbClr val="EFEFEC"/>
            </a:solidFill>
            <a:prstDash val="solid"/>
          </a:ln>
        </p:spPr>
      </p:sp>
      <p:sp>
        <p:nvSpPr>
          <p:cNvPr id="4" name="Shape 2"/>
          <p:cNvSpPr/>
          <p:nvPr/>
        </p:nvSpPr>
        <p:spPr>
          <a:xfrm>
            <a:off x="3048000" y="0"/>
            <a:ext cx="0" cy="6858000"/>
          </a:xfrm>
          <a:prstGeom prst="line">
            <a:avLst/>
          </a:prstGeom>
          <a:noFill/>
          <a:ln w="6350">
            <a:solidFill>
              <a:srgbClr val="EFEFEC"/>
            </a:solidFill>
            <a:prstDash val="solid"/>
          </a:ln>
        </p:spPr>
      </p:sp>
      <p:sp>
        <p:nvSpPr>
          <p:cNvPr id="5" name="Shape 3"/>
          <p:cNvSpPr/>
          <p:nvPr/>
        </p:nvSpPr>
        <p:spPr>
          <a:xfrm>
            <a:off x="4064000" y="0"/>
            <a:ext cx="0" cy="6858000"/>
          </a:xfrm>
          <a:prstGeom prst="line">
            <a:avLst/>
          </a:prstGeom>
          <a:noFill/>
          <a:ln w="6350">
            <a:solidFill>
              <a:srgbClr val="EFEFEC"/>
            </a:solidFill>
            <a:prstDash val="solid"/>
          </a:ln>
        </p:spPr>
      </p:sp>
      <p:sp>
        <p:nvSpPr>
          <p:cNvPr id="6" name="Shape 4"/>
          <p:cNvSpPr/>
          <p:nvPr/>
        </p:nvSpPr>
        <p:spPr>
          <a:xfrm>
            <a:off x="5080000" y="0"/>
            <a:ext cx="0" cy="6858000"/>
          </a:xfrm>
          <a:prstGeom prst="line">
            <a:avLst/>
          </a:prstGeom>
          <a:noFill/>
          <a:ln w="6350">
            <a:solidFill>
              <a:srgbClr val="EFEFEC"/>
            </a:solidFill>
            <a:prstDash val="solid"/>
          </a:ln>
        </p:spPr>
      </p:sp>
      <p:sp>
        <p:nvSpPr>
          <p:cNvPr id="7" name="Shape 5"/>
          <p:cNvSpPr/>
          <p:nvPr/>
        </p:nvSpPr>
        <p:spPr>
          <a:xfrm>
            <a:off x="6096000" y="0"/>
            <a:ext cx="0" cy="6858000"/>
          </a:xfrm>
          <a:prstGeom prst="line">
            <a:avLst/>
          </a:prstGeom>
          <a:noFill/>
          <a:ln w="6350">
            <a:solidFill>
              <a:srgbClr val="EFEFEC"/>
            </a:solidFill>
            <a:prstDash val="solid"/>
          </a:ln>
        </p:spPr>
      </p:sp>
      <p:sp>
        <p:nvSpPr>
          <p:cNvPr id="8" name="Shape 6"/>
          <p:cNvSpPr/>
          <p:nvPr/>
        </p:nvSpPr>
        <p:spPr>
          <a:xfrm>
            <a:off x="7112000" y="0"/>
            <a:ext cx="0" cy="6858000"/>
          </a:xfrm>
          <a:prstGeom prst="line">
            <a:avLst/>
          </a:prstGeom>
          <a:noFill/>
          <a:ln w="6350">
            <a:solidFill>
              <a:srgbClr val="EFEFEC"/>
            </a:solidFill>
            <a:prstDash val="solid"/>
          </a:ln>
        </p:spPr>
      </p:sp>
      <p:sp>
        <p:nvSpPr>
          <p:cNvPr id="9" name="Shape 7"/>
          <p:cNvSpPr/>
          <p:nvPr/>
        </p:nvSpPr>
        <p:spPr>
          <a:xfrm>
            <a:off x="8128000" y="0"/>
            <a:ext cx="0" cy="6858000"/>
          </a:xfrm>
          <a:prstGeom prst="line">
            <a:avLst/>
          </a:prstGeom>
          <a:noFill/>
          <a:ln w="6350">
            <a:solidFill>
              <a:srgbClr val="EFEFEC"/>
            </a:solidFill>
            <a:prstDash val="solid"/>
          </a:ln>
        </p:spPr>
      </p:sp>
      <p:sp>
        <p:nvSpPr>
          <p:cNvPr id="10" name="Shape 8"/>
          <p:cNvSpPr/>
          <p:nvPr/>
        </p:nvSpPr>
        <p:spPr>
          <a:xfrm>
            <a:off x="9144000" y="0"/>
            <a:ext cx="0" cy="6858000"/>
          </a:xfrm>
          <a:prstGeom prst="line">
            <a:avLst/>
          </a:prstGeom>
          <a:noFill/>
          <a:ln w="6350">
            <a:solidFill>
              <a:srgbClr val="EFEFEC"/>
            </a:solidFill>
            <a:prstDash val="solid"/>
          </a:ln>
        </p:spPr>
      </p:sp>
      <p:sp>
        <p:nvSpPr>
          <p:cNvPr id="11" name="Shape 9"/>
          <p:cNvSpPr/>
          <p:nvPr/>
        </p:nvSpPr>
        <p:spPr>
          <a:xfrm>
            <a:off x="10160000" y="0"/>
            <a:ext cx="0" cy="6858000"/>
          </a:xfrm>
          <a:prstGeom prst="line">
            <a:avLst/>
          </a:prstGeom>
          <a:noFill/>
          <a:ln w="6350">
            <a:solidFill>
              <a:srgbClr val="EFEFEC"/>
            </a:solidFill>
            <a:prstDash val="solid"/>
          </a:ln>
        </p:spPr>
      </p:sp>
      <p:sp>
        <p:nvSpPr>
          <p:cNvPr id="12" name="Shape 10"/>
          <p:cNvSpPr/>
          <p:nvPr/>
        </p:nvSpPr>
        <p:spPr>
          <a:xfrm>
            <a:off x="11176000" y="0"/>
            <a:ext cx="0" cy="6858000"/>
          </a:xfrm>
          <a:prstGeom prst="line">
            <a:avLst/>
          </a:prstGeom>
          <a:noFill/>
          <a:ln w="6350">
            <a:solidFill>
              <a:srgbClr val="EFEFEC"/>
            </a:solidFill>
            <a:prstDash val="solid"/>
          </a:ln>
        </p:spPr>
      </p:sp>
      <p:sp>
        <p:nvSpPr>
          <p:cNvPr id="13" name="Shape 11"/>
          <p:cNvSpPr/>
          <p:nvPr/>
        </p:nvSpPr>
        <p:spPr>
          <a:xfrm>
            <a:off x="0" y="762000"/>
            <a:ext cx="12191695" cy="0"/>
          </a:xfrm>
          <a:prstGeom prst="line">
            <a:avLst/>
          </a:prstGeom>
          <a:noFill/>
          <a:ln w="6350">
            <a:solidFill>
              <a:srgbClr val="EFEFEC"/>
            </a:solidFill>
            <a:prstDash val="solid"/>
          </a:ln>
        </p:spPr>
      </p:sp>
      <p:sp>
        <p:nvSpPr>
          <p:cNvPr id="14" name="Shape 12"/>
          <p:cNvSpPr/>
          <p:nvPr/>
        </p:nvSpPr>
        <p:spPr>
          <a:xfrm>
            <a:off x="0" y="1524000"/>
            <a:ext cx="12191695" cy="0"/>
          </a:xfrm>
          <a:prstGeom prst="line">
            <a:avLst/>
          </a:prstGeom>
          <a:noFill/>
          <a:ln w="6350">
            <a:solidFill>
              <a:srgbClr val="EFEFEC"/>
            </a:solidFill>
            <a:prstDash val="solid"/>
          </a:ln>
        </p:spPr>
      </p:sp>
      <p:sp>
        <p:nvSpPr>
          <p:cNvPr id="15" name="Shape 13"/>
          <p:cNvSpPr/>
          <p:nvPr/>
        </p:nvSpPr>
        <p:spPr>
          <a:xfrm>
            <a:off x="0" y="2286000"/>
            <a:ext cx="12191695" cy="0"/>
          </a:xfrm>
          <a:prstGeom prst="line">
            <a:avLst/>
          </a:prstGeom>
          <a:noFill/>
          <a:ln w="6350">
            <a:solidFill>
              <a:srgbClr val="EFEFEC"/>
            </a:solidFill>
            <a:prstDash val="solid"/>
          </a:ln>
        </p:spPr>
      </p:sp>
      <p:sp>
        <p:nvSpPr>
          <p:cNvPr id="16" name="Shape 14"/>
          <p:cNvSpPr/>
          <p:nvPr/>
        </p:nvSpPr>
        <p:spPr>
          <a:xfrm>
            <a:off x="0" y="3048000"/>
            <a:ext cx="12191695" cy="0"/>
          </a:xfrm>
          <a:prstGeom prst="line">
            <a:avLst/>
          </a:prstGeom>
          <a:noFill/>
          <a:ln w="6350">
            <a:solidFill>
              <a:srgbClr val="EFEFEC"/>
            </a:solidFill>
            <a:prstDash val="solid"/>
          </a:ln>
        </p:spPr>
      </p:sp>
      <p:sp>
        <p:nvSpPr>
          <p:cNvPr id="17" name="Shape 15"/>
          <p:cNvSpPr/>
          <p:nvPr/>
        </p:nvSpPr>
        <p:spPr>
          <a:xfrm>
            <a:off x="0" y="3810000"/>
            <a:ext cx="12191695" cy="0"/>
          </a:xfrm>
          <a:prstGeom prst="line">
            <a:avLst/>
          </a:prstGeom>
          <a:noFill/>
          <a:ln w="6350">
            <a:solidFill>
              <a:srgbClr val="EFEFEC"/>
            </a:solidFill>
            <a:prstDash val="solid"/>
          </a:ln>
        </p:spPr>
      </p:sp>
      <p:sp>
        <p:nvSpPr>
          <p:cNvPr id="18" name="Shape 16"/>
          <p:cNvSpPr/>
          <p:nvPr/>
        </p:nvSpPr>
        <p:spPr>
          <a:xfrm>
            <a:off x="0" y="4572000"/>
            <a:ext cx="12191695" cy="0"/>
          </a:xfrm>
          <a:prstGeom prst="line">
            <a:avLst/>
          </a:prstGeom>
          <a:noFill/>
          <a:ln w="6350">
            <a:solidFill>
              <a:srgbClr val="EFEFEC"/>
            </a:solidFill>
            <a:prstDash val="solid"/>
          </a:ln>
        </p:spPr>
      </p:sp>
      <p:sp>
        <p:nvSpPr>
          <p:cNvPr id="19" name="Shape 17"/>
          <p:cNvSpPr/>
          <p:nvPr/>
        </p:nvSpPr>
        <p:spPr>
          <a:xfrm>
            <a:off x="0" y="5334000"/>
            <a:ext cx="12191695" cy="0"/>
          </a:xfrm>
          <a:prstGeom prst="line">
            <a:avLst/>
          </a:prstGeom>
          <a:noFill/>
          <a:ln w="6350">
            <a:solidFill>
              <a:srgbClr val="EFEFEC"/>
            </a:solidFill>
            <a:prstDash val="solid"/>
          </a:ln>
        </p:spPr>
      </p:sp>
      <p:sp>
        <p:nvSpPr>
          <p:cNvPr id="20" name="Shape 18"/>
          <p:cNvSpPr/>
          <p:nvPr/>
        </p:nvSpPr>
        <p:spPr>
          <a:xfrm>
            <a:off x="0" y="6096000"/>
            <a:ext cx="12191695" cy="0"/>
          </a:xfrm>
          <a:prstGeom prst="line">
            <a:avLst/>
          </a:prstGeom>
          <a:noFill/>
          <a:ln w="6350">
            <a:solidFill>
              <a:srgbClr val="EFEFEC"/>
            </a:solidFill>
            <a:prstDash val="solid"/>
          </a:ln>
        </p:spPr>
      </p:sp>
      <p:sp>
        <p:nvSpPr>
          <p:cNvPr id="21" name="Text 19"/>
          <p:cNvSpPr/>
          <p:nvPr>
            <p:ph idx="119" type="body" hasCustomPrompt="1"/>
          </p:nvPr>
        </p:nvSpPr>
        <p:spPr>
          <a:xfrm>
            <a:off x="1016000" y="584200"/>
            <a:ext cx="8255000" cy="254000"/>
          </a:xfrm>
          <a:prstGeom prst="rect">
            <a:avLst/>
          </a:prstGeom>
          <a:noFill/>
          <a:ln/>
        </p:spPr>
        <p:txBody>
          <a:bodyPr wrap="square" rtlCol="0"/>
          <a:lstStyle>
            <a:lvl1pPr indent="0" marL="0">
              <a:buNone/>
              <a:defRPr lang="en-US" sz="1200" b="1" spc="300" kern="0" dirty="0">
                <a:solidFill>
                  <a:srgbClr val="111111"/>
                </a:solidFill>
                <a:latin typeface="Arial" pitchFamily="34" charset="0"/>
                <a:ea typeface="Arial" pitchFamily="34" charset="-122"/>
                <a:cs typeface="Arial" pitchFamily="34" charset="-120"/>
              </a:defRPr>
            </a:lvl1pPr>
          </a:lstStyle>
          <a:p>
            <a:pPr indent="0" marL="0">
              <a:buNone/>
            </a:pPr>
            <a:endParaRPr lang="en-US" sz="1200" dirty="0"/>
          </a:p>
        </p:txBody>
      </p:sp>
      <p:sp>
        <p:nvSpPr>
          <p:cNvPr id="22" name="Text 19"/>
          <p:cNvSpPr/>
          <p:nvPr>
            <p:ph idx="120" type="title" hasCustomPrompt="1"/>
          </p:nvPr>
        </p:nvSpPr>
        <p:spPr>
          <a:xfrm>
            <a:off x="1016000" y="952500"/>
            <a:ext cx="8890000" cy="1079500"/>
          </a:xfrm>
          <a:prstGeom prst="rect">
            <a:avLst/>
          </a:prstGeom>
          <a:noFill/>
          <a:ln/>
        </p:spPr>
        <p:txBody>
          <a:bodyPr wrap="square" rtlCol="0"/>
          <a:lstStyle>
            <a:lvl1pPr algn="l" indent="0" marL="0">
              <a:lnSpc>
                <a:spcPct val="95000"/>
              </a:lnSpc>
              <a:buNone/>
              <a:defRPr lang="en-US" sz="3400" dirty="0">
                <a:solidFill>
                  <a:srgbClr val="111111"/>
                </a:solidFill>
                <a:latin typeface="Arial Black" pitchFamily="34" charset="0"/>
                <a:ea typeface="Arial Black" pitchFamily="34" charset="-122"/>
                <a:cs typeface="Arial Black" pitchFamily="34" charset="-120"/>
              </a:defRPr>
            </a:lvl1pPr>
          </a:lstStyle>
          <a:p>
            <a:pPr algn="l" indent="0" marL="0">
              <a:lnSpc>
                <a:spcPct val="95000"/>
              </a:lnSpc>
              <a:buNone/>
            </a:pPr>
            <a:endParaRPr lang="en-US" sz="3400" dirty="0"/>
          </a:p>
        </p:txBody>
      </p:sp>
      <p:sp>
        <p:nvSpPr>
          <p:cNvPr id="23" name="Text 19"/>
          <p:cNvSpPr/>
          <p:nvPr/>
        </p:nvSpPr>
        <p:spPr>
          <a:xfrm>
            <a:off x="1016000" y="6388100"/>
            <a:ext cx="5715000" cy="190500"/>
          </a:xfrm>
          <a:prstGeom prst="rect">
            <a:avLst/>
          </a:prstGeom>
          <a:noFill/>
          <a:ln/>
        </p:spPr>
        <p:txBody>
          <a:bodyPr wrap="square" lIns="0" tIns="0" rIns="0" bIns="0" rtlCol="0" anchor="ctr"/>
          <a:lstStyle/>
          <a:p>
            <a:pPr indent="0" marL="0">
              <a:buNone/>
            </a:pPr>
            <a:r>
              <a:rPr lang="en-US" sz="1000" b="1" dirty="0">
                <a:solidFill>
                  <a:srgbClr val="666666"/>
                </a:solidFill>
                <a:latin typeface="Arial" pitchFamily="34" charset="0"/>
                <a:ea typeface="Arial" pitchFamily="34" charset="-122"/>
                <a:cs typeface="Arial" pitchFamily="34" charset="-120"/>
              </a:rPr>
              <a:t>HC-03 · Antibiotic Stewardship Copilot</a:t>
            </a:r>
            <a:endParaRPr lang="en-US" sz="10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WISS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6000" y="0"/>
            <a:ext cx="0" cy="6858000"/>
          </a:xfrm>
          <a:prstGeom prst="line">
            <a:avLst/>
          </a:prstGeom>
          <a:noFill/>
          <a:ln w="6350">
            <a:solidFill>
              <a:srgbClr val="EFEFEC"/>
            </a:solidFill>
            <a:prstDash val="solid"/>
          </a:ln>
        </p:spPr>
      </p:sp>
      <p:sp>
        <p:nvSpPr>
          <p:cNvPr id="3" name="Shape 1"/>
          <p:cNvSpPr/>
          <p:nvPr/>
        </p:nvSpPr>
        <p:spPr>
          <a:xfrm>
            <a:off x="2032000" y="0"/>
            <a:ext cx="0" cy="6858000"/>
          </a:xfrm>
          <a:prstGeom prst="line">
            <a:avLst/>
          </a:prstGeom>
          <a:noFill/>
          <a:ln w="6350">
            <a:solidFill>
              <a:srgbClr val="EFEFEC"/>
            </a:solidFill>
            <a:prstDash val="solid"/>
          </a:ln>
        </p:spPr>
      </p:sp>
      <p:sp>
        <p:nvSpPr>
          <p:cNvPr id="4" name="Shape 2"/>
          <p:cNvSpPr/>
          <p:nvPr/>
        </p:nvSpPr>
        <p:spPr>
          <a:xfrm>
            <a:off x="3048000" y="0"/>
            <a:ext cx="0" cy="6858000"/>
          </a:xfrm>
          <a:prstGeom prst="line">
            <a:avLst/>
          </a:prstGeom>
          <a:noFill/>
          <a:ln w="6350">
            <a:solidFill>
              <a:srgbClr val="EFEFEC"/>
            </a:solidFill>
            <a:prstDash val="solid"/>
          </a:ln>
        </p:spPr>
      </p:sp>
      <p:sp>
        <p:nvSpPr>
          <p:cNvPr id="5" name="Shape 3"/>
          <p:cNvSpPr/>
          <p:nvPr/>
        </p:nvSpPr>
        <p:spPr>
          <a:xfrm>
            <a:off x="4064000" y="0"/>
            <a:ext cx="0" cy="6858000"/>
          </a:xfrm>
          <a:prstGeom prst="line">
            <a:avLst/>
          </a:prstGeom>
          <a:noFill/>
          <a:ln w="6350">
            <a:solidFill>
              <a:srgbClr val="EFEFEC"/>
            </a:solidFill>
            <a:prstDash val="solid"/>
          </a:ln>
        </p:spPr>
      </p:sp>
      <p:sp>
        <p:nvSpPr>
          <p:cNvPr id="6" name="Shape 4"/>
          <p:cNvSpPr/>
          <p:nvPr/>
        </p:nvSpPr>
        <p:spPr>
          <a:xfrm>
            <a:off x="5080000" y="0"/>
            <a:ext cx="0" cy="6858000"/>
          </a:xfrm>
          <a:prstGeom prst="line">
            <a:avLst/>
          </a:prstGeom>
          <a:noFill/>
          <a:ln w="6350">
            <a:solidFill>
              <a:srgbClr val="EFEFEC"/>
            </a:solidFill>
            <a:prstDash val="solid"/>
          </a:ln>
        </p:spPr>
      </p:sp>
      <p:sp>
        <p:nvSpPr>
          <p:cNvPr id="7" name="Shape 5"/>
          <p:cNvSpPr/>
          <p:nvPr/>
        </p:nvSpPr>
        <p:spPr>
          <a:xfrm>
            <a:off x="6096000" y="0"/>
            <a:ext cx="0" cy="6858000"/>
          </a:xfrm>
          <a:prstGeom prst="line">
            <a:avLst/>
          </a:prstGeom>
          <a:noFill/>
          <a:ln w="6350">
            <a:solidFill>
              <a:srgbClr val="EFEFEC"/>
            </a:solidFill>
            <a:prstDash val="solid"/>
          </a:ln>
        </p:spPr>
      </p:sp>
      <p:sp>
        <p:nvSpPr>
          <p:cNvPr id="8" name="Shape 6"/>
          <p:cNvSpPr/>
          <p:nvPr/>
        </p:nvSpPr>
        <p:spPr>
          <a:xfrm>
            <a:off x="7112000" y="0"/>
            <a:ext cx="0" cy="6858000"/>
          </a:xfrm>
          <a:prstGeom prst="line">
            <a:avLst/>
          </a:prstGeom>
          <a:noFill/>
          <a:ln w="6350">
            <a:solidFill>
              <a:srgbClr val="EFEFEC"/>
            </a:solidFill>
            <a:prstDash val="solid"/>
          </a:ln>
        </p:spPr>
      </p:sp>
      <p:sp>
        <p:nvSpPr>
          <p:cNvPr id="9" name="Shape 7"/>
          <p:cNvSpPr/>
          <p:nvPr/>
        </p:nvSpPr>
        <p:spPr>
          <a:xfrm>
            <a:off x="8128000" y="0"/>
            <a:ext cx="0" cy="6858000"/>
          </a:xfrm>
          <a:prstGeom prst="line">
            <a:avLst/>
          </a:prstGeom>
          <a:noFill/>
          <a:ln w="6350">
            <a:solidFill>
              <a:srgbClr val="EFEFEC"/>
            </a:solidFill>
            <a:prstDash val="solid"/>
          </a:ln>
        </p:spPr>
      </p:sp>
      <p:sp>
        <p:nvSpPr>
          <p:cNvPr id="10" name="Shape 8"/>
          <p:cNvSpPr/>
          <p:nvPr/>
        </p:nvSpPr>
        <p:spPr>
          <a:xfrm>
            <a:off x="9144000" y="0"/>
            <a:ext cx="0" cy="6858000"/>
          </a:xfrm>
          <a:prstGeom prst="line">
            <a:avLst/>
          </a:prstGeom>
          <a:noFill/>
          <a:ln w="6350">
            <a:solidFill>
              <a:srgbClr val="EFEFEC"/>
            </a:solidFill>
            <a:prstDash val="solid"/>
          </a:ln>
        </p:spPr>
      </p:sp>
      <p:sp>
        <p:nvSpPr>
          <p:cNvPr id="11" name="Shape 9"/>
          <p:cNvSpPr/>
          <p:nvPr/>
        </p:nvSpPr>
        <p:spPr>
          <a:xfrm>
            <a:off x="10160000" y="0"/>
            <a:ext cx="0" cy="6858000"/>
          </a:xfrm>
          <a:prstGeom prst="line">
            <a:avLst/>
          </a:prstGeom>
          <a:noFill/>
          <a:ln w="6350">
            <a:solidFill>
              <a:srgbClr val="EFEFEC"/>
            </a:solidFill>
            <a:prstDash val="solid"/>
          </a:ln>
        </p:spPr>
      </p:sp>
      <p:sp>
        <p:nvSpPr>
          <p:cNvPr id="12" name="Shape 10"/>
          <p:cNvSpPr/>
          <p:nvPr/>
        </p:nvSpPr>
        <p:spPr>
          <a:xfrm>
            <a:off x="11176000" y="0"/>
            <a:ext cx="0" cy="6858000"/>
          </a:xfrm>
          <a:prstGeom prst="line">
            <a:avLst/>
          </a:prstGeom>
          <a:noFill/>
          <a:ln w="6350">
            <a:solidFill>
              <a:srgbClr val="EFEFEC"/>
            </a:solidFill>
            <a:prstDash val="solid"/>
          </a:ln>
        </p:spPr>
      </p:sp>
      <p:sp>
        <p:nvSpPr>
          <p:cNvPr id="13" name="Shape 11"/>
          <p:cNvSpPr/>
          <p:nvPr/>
        </p:nvSpPr>
        <p:spPr>
          <a:xfrm>
            <a:off x="0" y="762000"/>
            <a:ext cx="12191695" cy="0"/>
          </a:xfrm>
          <a:prstGeom prst="line">
            <a:avLst/>
          </a:prstGeom>
          <a:noFill/>
          <a:ln w="6350">
            <a:solidFill>
              <a:srgbClr val="EFEFEC"/>
            </a:solidFill>
            <a:prstDash val="solid"/>
          </a:ln>
        </p:spPr>
      </p:sp>
      <p:sp>
        <p:nvSpPr>
          <p:cNvPr id="14" name="Shape 12"/>
          <p:cNvSpPr/>
          <p:nvPr/>
        </p:nvSpPr>
        <p:spPr>
          <a:xfrm>
            <a:off x="0" y="1524000"/>
            <a:ext cx="12191695" cy="0"/>
          </a:xfrm>
          <a:prstGeom prst="line">
            <a:avLst/>
          </a:prstGeom>
          <a:noFill/>
          <a:ln w="6350">
            <a:solidFill>
              <a:srgbClr val="EFEFEC"/>
            </a:solidFill>
            <a:prstDash val="solid"/>
          </a:ln>
        </p:spPr>
      </p:sp>
      <p:sp>
        <p:nvSpPr>
          <p:cNvPr id="15" name="Shape 13"/>
          <p:cNvSpPr/>
          <p:nvPr/>
        </p:nvSpPr>
        <p:spPr>
          <a:xfrm>
            <a:off x="0" y="2286000"/>
            <a:ext cx="12191695" cy="0"/>
          </a:xfrm>
          <a:prstGeom prst="line">
            <a:avLst/>
          </a:prstGeom>
          <a:noFill/>
          <a:ln w="6350">
            <a:solidFill>
              <a:srgbClr val="EFEFEC"/>
            </a:solidFill>
            <a:prstDash val="solid"/>
          </a:ln>
        </p:spPr>
      </p:sp>
      <p:sp>
        <p:nvSpPr>
          <p:cNvPr id="16" name="Shape 14"/>
          <p:cNvSpPr/>
          <p:nvPr/>
        </p:nvSpPr>
        <p:spPr>
          <a:xfrm>
            <a:off x="0" y="3048000"/>
            <a:ext cx="12191695" cy="0"/>
          </a:xfrm>
          <a:prstGeom prst="line">
            <a:avLst/>
          </a:prstGeom>
          <a:noFill/>
          <a:ln w="6350">
            <a:solidFill>
              <a:srgbClr val="EFEFEC"/>
            </a:solidFill>
            <a:prstDash val="solid"/>
          </a:ln>
        </p:spPr>
      </p:sp>
      <p:sp>
        <p:nvSpPr>
          <p:cNvPr id="17" name="Shape 15"/>
          <p:cNvSpPr/>
          <p:nvPr/>
        </p:nvSpPr>
        <p:spPr>
          <a:xfrm>
            <a:off x="0" y="3810000"/>
            <a:ext cx="12191695" cy="0"/>
          </a:xfrm>
          <a:prstGeom prst="line">
            <a:avLst/>
          </a:prstGeom>
          <a:noFill/>
          <a:ln w="6350">
            <a:solidFill>
              <a:srgbClr val="EFEFEC"/>
            </a:solidFill>
            <a:prstDash val="solid"/>
          </a:ln>
        </p:spPr>
      </p:sp>
      <p:sp>
        <p:nvSpPr>
          <p:cNvPr id="18" name="Shape 16"/>
          <p:cNvSpPr/>
          <p:nvPr/>
        </p:nvSpPr>
        <p:spPr>
          <a:xfrm>
            <a:off x="0" y="4572000"/>
            <a:ext cx="12191695" cy="0"/>
          </a:xfrm>
          <a:prstGeom prst="line">
            <a:avLst/>
          </a:prstGeom>
          <a:noFill/>
          <a:ln w="6350">
            <a:solidFill>
              <a:srgbClr val="EFEFEC"/>
            </a:solidFill>
            <a:prstDash val="solid"/>
          </a:ln>
        </p:spPr>
      </p:sp>
      <p:sp>
        <p:nvSpPr>
          <p:cNvPr id="19" name="Shape 17"/>
          <p:cNvSpPr/>
          <p:nvPr/>
        </p:nvSpPr>
        <p:spPr>
          <a:xfrm>
            <a:off x="0" y="5334000"/>
            <a:ext cx="12191695" cy="0"/>
          </a:xfrm>
          <a:prstGeom prst="line">
            <a:avLst/>
          </a:prstGeom>
          <a:noFill/>
          <a:ln w="6350">
            <a:solidFill>
              <a:srgbClr val="EFEFEC"/>
            </a:solidFill>
            <a:prstDash val="solid"/>
          </a:ln>
        </p:spPr>
      </p:sp>
      <p:sp>
        <p:nvSpPr>
          <p:cNvPr id="20" name="Shape 18"/>
          <p:cNvSpPr/>
          <p:nvPr/>
        </p:nvSpPr>
        <p:spPr>
          <a:xfrm>
            <a:off x="0" y="6096000"/>
            <a:ext cx="12191695" cy="0"/>
          </a:xfrm>
          <a:prstGeom prst="line">
            <a:avLst/>
          </a:prstGeom>
          <a:noFill/>
          <a:ln w="6350">
            <a:solidFill>
              <a:srgbClr val="EFEFEC"/>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WISS_INVERSE">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1016000" y="0"/>
            <a:ext cx="0" cy="6858000"/>
          </a:xfrm>
          <a:prstGeom prst="line">
            <a:avLst/>
          </a:prstGeom>
          <a:noFill/>
          <a:ln w="6350">
            <a:solidFill>
              <a:srgbClr val="262626"/>
            </a:solidFill>
            <a:prstDash val="solid"/>
          </a:ln>
        </p:spPr>
      </p:sp>
      <p:sp>
        <p:nvSpPr>
          <p:cNvPr id="3" name="Shape 1"/>
          <p:cNvSpPr/>
          <p:nvPr/>
        </p:nvSpPr>
        <p:spPr>
          <a:xfrm>
            <a:off x="2032000" y="0"/>
            <a:ext cx="0" cy="6858000"/>
          </a:xfrm>
          <a:prstGeom prst="line">
            <a:avLst/>
          </a:prstGeom>
          <a:noFill/>
          <a:ln w="6350">
            <a:solidFill>
              <a:srgbClr val="262626"/>
            </a:solidFill>
            <a:prstDash val="solid"/>
          </a:ln>
        </p:spPr>
      </p:sp>
      <p:sp>
        <p:nvSpPr>
          <p:cNvPr id="4" name="Shape 2"/>
          <p:cNvSpPr/>
          <p:nvPr/>
        </p:nvSpPr>
        <p:spPr>
          <a:xfrm>
            <a:off x="3048000" y="0"/>
            <a:ext cx="0" cy="6858000"/>
          </a:xfrm>
          <a:prstGeom prst="line">
            <a:avLst/>
          </a:prstGeom>
          <a:noFill/>
          <a:ln w="6350">
            <a:solidFill>
              <a:srgbClr val="262626"/>
            </a:solidFill>
            <a:prstDash val="solid"/>
          </a:ln>
        </p:spPr>
      </p:sp>
      <p:sp>
        <p:nvSpPr>
          <p:cNvPr id="5" name="Shape 3"/>
          <p:cNvSpPr/>
          <p:nvPr/>
        </p:nvSpPr>
        <p:spPr>
          <a:xfrm>
            <a:off x="4064000" y="0"/>
            <a:ext cx="0" cy="6858000"/>
          </a:xfrm>
          <a:prstGeom prst="line">
            <a:avLst/>
          </a:prstGeom>
          <a:noFill/>
          <a:ln w="6350">
            <a:solidFill>
              <a:srgbClr val="262626"/>
            </a:solidFill>
            <a:prstDash val="solid"/>
          </a:ln>
        </p:spPr>
      </p:sp>
      <p:sp>
        <p:nvSpPr>
          <p:cNvPr id="6" name="Shape 4"/>
          <p:cNvSpPr/>
          <p:nvPr/>
        </p:nvSpPr>
        <p:spPr>
          <a:xfrm>
            <a:off x="5080000" y="0"/>
            <a:ext cx="0" cy="6858000"/>
          </a:xfrm>
          <a:prstGeom prst="line">
            <a:avLst/>
          </a:prstGeom>
          <a:noFill/>
          <a:ln w="6350">
            <a:solidFill>
              <a:srgbClr val="262626"/>
            </a:solidFill>
            <a:prstDash val="solid"/>
          </a:ln>
        </p:spPr>
      </p:sp>
      <p:sp>
        <p:nvSpPr>
          <p:cNvPr id="7" name="Shape 5"/>
          <p:cNvSpPr/>
          <p:nvPr/>
        </p:nvSpPr>
        <p:spPr>
          <a:xfrm>
            <a:off x="6096000" y="0"/>
            <a:ext cx="0" cy="6858000"/>
          </a:xfrm>
          <a:prstGeom prst="line">
            <a:avLst/>
          </a:prstGeom>
          <a:noFill/>
          <a:ln w="6350">
            <a:solidFill>
              <a:srgbClr val="262626"/>
            </a:solidFill>
            <a:prstDash val="solid"/>
          </a:ln>
        </p:spPr>
      </p:sp>
      <p:sp>
        <p:nvSpPr>
          <p:cNvPr id="8" name="Shape 6"/>
          <p:cNvSpPr/>
          <p:nvPr/>
        </p:nvSpPr>
        <p:spPr>
          <a:xfrm>
            <a:off x="7112000" y="0"/>
            <a:ext cx="0" cy="6858000"/>
          </a:xfrm>
          <a:prstGeom prst="line">
            <a:avLst/>
          </a:prstGeom>
          <a:noFill/>
          <a:ln w="6350">
            <a:solidFill>
              <a:srgbClr val="262626"/>
            </a:solidFill>
            <a:prstDash val="solid"/>
          </a:ln>
        </p:spPr>
      </p:sp>
      <p:sp>
        <p:nvSpPr>
          <p:cNvPr id="9" name="Shape 7"/>
          <p:cNvSpPr/>
          <p:nvPr/>
        </p:nvSpPr>
        <p:spPr>
          <a:xfrm>
            <a:off x="8128000" y="0"/>
            <a:ext cx="0" cy="6858000"/>
          </a:xfrm>
          <a:prstGeom prst="line">
            <a:avLst/>
          </a:prstGeom>
          <a:noFill/>
          <a:ln w="6350">
            <a:solidFill>
              <a:srgbClr val="262626"/>
            </a:solidFill>
            <a:prstDash val="solid"/>
          </a:ln>
        </p:spPr>
      </p:sp>
      <p:sp>
        <p:nvSpPr>
          <p:cNvPr id="10" name="Shape 8"/>
          <p:cNvSpPr/>
          <p:nvPr/>
        </p:nvSpPr>
        <p:spPr>
          <a:xfrm>
            <a:off x="9144000" y="0"/>
            <a:ext cx="0" cy="6858000"/>
          </a:xfrm>
          <a:prstGeom prst="line">
            <a:avLst/>
          </a:prstGeom>
          <a:noFill/>
          <a:ln w="6350">
            <a:solidFill>
              <a:srgbClr val="262626"/>
            </a:solidFill>
            <a:prstDash val="solid"/>
          </a:ln>
        </p:spPr>
      </p:sp>
      <p:sp>
        <p:nvSpPr>
          <p:cNvPr id="11" name="Shape 9"/>
          <p:cNvSpPr/>
          <p:nvPr/>
        </p:nvSpPr>
        <p:spPr>
          <a:xfrm>
            <a:off x="10160000" y="0"/>
            <a:ext cx="0" cy="6858000"/>
          </a:xfrm>
          <a:prstGeom prst="line">
            <a:avLst/>
          </a:prstGeom>
          <a:noFill/>
          <a:ln w="6350">
            <a:solidFill>
              <a:srgbClr val="262626"/>
            </a:solidFill>
            <a:prstDash val="solid"/>
          </a:ln>
        </p:spPr>
      </p:sp>
      <p:sp>
        <p:nvSpPr>
          <p:cNvPr id="12" name="Shape 10"/>
          <p:cNvSpPr/>
          <p:nvPr/>
        </p:nvSpPr>
        <p:spPr>
          <a:xfrm>
            <a:off x="11176000" y="0"/>
            <a:ext cx="0" cy="6858000"/>
          </a:xfrm>
          <a:prstGeom prst="line">
            <a:avLst/>
          </a:prstGeom>
          <a:noFill/>
          <a:ln w="6350">
            <a:solidFill>
              <a:srgbClr val="262626"/>
            </a:solidFill>
            <a:prstDash val="solid"/>
          </a:ln>
        </p:spPr>
      </p:sp>
      <p:sp>
        <p:nvSpPr>
          <p:cNvPr id="13" name="Shape 11"/>
          <p:cNvSpPr/>
          <p:nvPr/>
        </p:nvSpPr>
        <p:spPr>
          <a:xfrm>
            <a:off x="0" y="762000"/>
            <a:ext cx="12191695" cy="0"/>
          </a:xfrm>
          <a:prstGeom prst="line">
            <a:avLst/>
          </a:prstGeom>
          <a:noFill/>
          <a:ln w="6350">
            <a:solidFill>
              <a:srgbClr val="262626"/>
            </a:solidFill>
            <a:prstDash val="solid"/>
          </a:ln>
        </p:spPr>
      </p:sp>
      <p:sp>
        <p:nvSpPr>
          <p:cNvPr id="14" name="Shape 12"/>
          <p:cNvSpPr/>
          <p:nvPr/>
        </p:nvSpPr>
        <p:spPr>
          <a:xfrm>
            <a:off x="0" y="1524000"/>
            <a:ext cx="12191695" cy="0"/>
          </a:xfrm>
          <a:prstGeom prst="line">
            <a:avLst/>
          </a:prstGeom>
          <a:noFill/>
          <a:ln w="6350">
            <a:solidFill>
              <a:srgbClr val="262626"/>
            </a:solidFill>
            <a:prstDash val="solid"/>
          </a:ln>
        </p:spPr>
      </p:sp>
      <p:sp>
        <p:nvSpPr>
          <p:cNvPr id="15" name="Shape 13"/>
          <p:cNvSpPr/>
          <p:nvPr/>
        </p:nvSpPr>
        <p:spPr>
          <a:xfrm>
            <a:off x="0" y="2286000"/>
            <a:ext cx="12191695" cy="0"/>
          </a:xfrm>
          <a:prstGeom prst="line">
            <a:avLst/>
          </a:prstGeom>
          <a:noFill/>
          <a:ln w="6350">
            <a:solidFill>
              <a:srgbClr val="262626"/>
            </a:solidFill>
            <a:prstDash val="solid"/>
          </a:ln>
        </p:spPr>
      </p:sp>
      <p:sp>
        <p:nvSpPr>
          <p:cNvPr id="16" name="Shape 14"/>
          <p:cNvSpPr/>
          <p:nvPr/>
        </p:nvSpPr>
        <p:spPr>
          <a:xfrm>
            <a:off x="0" y="3048000"/>
            <a:ext cx="12191695" cy="0"/>
          </a:xfrm>
          <a:prstGeom prst="line">
            <a:avLst/>
          </a:prstGeom>
          <a:noFill/>
          <a:ln w="6350">
            <a:solidFill>
              <a:srgbClr val="262626"/>
            </a:solidFill>
            <a:prstDash val="solid"/>
          </a:ln>
        </p:spPr>
      </p:sp>
      <p:sp>
        <p:nvSpPr>
          <p:cNvPr id="17" name="Shape 15"/>
          <p:cNvSpPr/>
          <p:nvPr/>
        </p:nvSpPr>
        <p:spPr>
          <a:xfrm>
            <a:off x="0" y="3810000"/>
            <a:ext cx="12191695" cy="0"/>
          </a:xfrm>
          <a:prstGeom prst="line">
            <a:avLst/>
          </a:prstGeom>
          <a:noFill/>
          <a:ln w="6350">
            <a:solidFill>
              <a:srgbClr val="262626"/>
            </a:solidFill>
            <a:prstDash val="solid"/>
          </a:ln>
        </p:spPr>
      </p:sp>
      <p:sp>
        <p:nvSpPr>
          <p:cNvPr id="18" name="Shape 16"/>
          <p:cNvSpPr/>
          <p:nvPr/>
        </p:nvSpPr>
        <p:spPr>
          <a:xfrm>
            <a:off x="0" y="4572000"/>
            <a:ext cx="12191695" cy="0"/>
          </a:xfrm>
          <a:prstGeom prst="line">
            <a:avLst/>
          </a:prstGeom>
          <a:noFill/>
          <a:ln w="6350">
            <a:solidFill>
              <a:srgbClr val="262626"/>
            </a:solidFill>
            <a:prstDash val="solid"/>
          </a:ln>
        </p:spPr>
      </p:sp>
      <p:sp>
        <p:nvSpPr>
          <p:cNvPr id="19" name="Shape 17"/>
          <p:cNvSpPr/>
          <p:nvPr/>
        </p:nvSpPr>
        <p:spPr>
          <a:xfrm>
            <a:off x="0" y="5334000"/>
            <a:ext cx="12191695" cy="0"/>
          </a:xfrm>
          <a:prstGeom prst="line">
            <a:avLst/>
          </a:prstGeom>
          <a:noFill/>
          <a:ln w="6350">
            <a:solidFill>
              <a:srgbClr val="262626"/>
            </a:solidFill>
            <a:prstDash val="solid"/>
          </a:ln>
        </p:spPr>
      </p:sp>
      <p:sp>
        <p:nvSpPr>
          <p:cNvPr id="20" name="Shape 18"/>
          <p:cNvSpPr/>
          <p:nvPr/>
        </p:nvSpPr>
        <p:spPr>
          <a:xfrm>
            <a:off x="0" y="6096000"/>
            <a:ext cx="12191695" cy="0"/>
          </a:xfrm>
          <a:prstGeom prst="line">
            <a:avLst/>
          </a:prstGeom>
          <a:noFill/>
          <a:ln w="6350">
            <a:solidFill>
              <a:srgbClr val="262626"/>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016000" y="698500"/>
            <a:ext cx="5715000" cy="254000"/>
          </a:xfrm>
          <a:prstGeom prst="rect">
            <a:avLst/>
          </a:prstGeom>
          <a:noFill/>
          <a:ln/>
        </p:spPr>
        <p:txBody>
          <a:bodyPr wrap="square" lIns="0" tIns="0" rIns="0" bIns="0" rtlCol="0" anchor="t"/>
          <a:lstStyle/>
          <a:p>
            <a:pPr indent="0" marL="0">
              <a:buNone/>
            </a:pPr>
            <a:r>
              <a:rPr lang="en-US" sz="1300" b="1" spc="400" kern="0" dirty="0">
                <a:solidFill>
                  <a:srgbClr val="111111"/>
                </a:solidFill>
                <a:latin typeface="Arial" pitchFamily="34" charset="0"/>
                <a:ea typeface="Arial" pitchFamily="34" charset="-122"/>
                <a:cs typeface="Arial" pitchFamily="34" charset="-120"/>
              </a:rPr>
              <a:t>HACKATOPIA 2K26 · HC-03</a:t>
            </a:r>
            <a:endParaRPr lang="en-US" sz="1300" dirty="0"/>
          </a:p>
        </p:txBody>
      </p:sp>
      <p:sp>
        <p:nvSpPr>
          <p:cNvPr id="3" name="Text 1"/>
          <p:cNvSpPr txBox="1"/>
          <p:nvPr/>
        </p:nvSpPr>
        <p:spPr>
          <a:xfrm>
            <a:off x="1016000" y="1587500"/>
            <a:ext cx="7937500" cy="2984500"/>
          </a:xfrm>
          <a:prstGeom prst="rect">
            <a:avLst/>
          </a:prstGeom>
          <a:noFill/>
          <a:ln/>
        </p:spPr>
        <p:txBody>
          <a:bodyPr wrap="square" lIns="0" tIns="0" rIns="0" bIns="0" rtlCol="0" anchor="t"/>
          <a:lstStyle/>
          <a:p>
            <a:pPr indent="0" marL="0">
              <a:lnSpc>
                <a:spcPct val="90000"/>
              </a:lnSpc>
              <a:buNone/>
            </a:pPr>
            <a:r>
              <a:rPr lang="en-US" sz="6800" dirty="0">
                <a:solidFill>
                  <a:srgbClr val="111111"/>
                </a:solidFill>
                <a:latin typeface="Arial Black" pitchFamily="34" charset="0"/>
                <a:ea typeface="Arial Black" pitchFamily="34" charset="-122"/>
                <a:cs typeface="Arial Black" pitchFamily="34" charset="-120"/>
              </a:rPr>
              <a:t>Antibiotic</a:t>
            </a:r>
            <a:endParaRPr lang="en-US" sz="6800" dirty="0"/>
          </a:p>
          <a:p>
            <a:pPr indent="0" marL="0">
              <a:lnSpc>
                <a:spcPct val="90000"/>
              </a:lnSpc>
              <a:buNone/>
            </a:pPr>
            <a:r>
              <a:rPr lang="en-US" sz="6800" dirty="0">
                <a:solidFill>
                  <a:srgbClr val="111111"/>
                </a:solidFill>
                <a:latin typeface="Arial Black" pitchFamily="34" charset="0"/>
                <a:ea typeface="Arial Black" pitchFamily="34" charset="-122"/>
                <a:cs typeface="Arial Black" pitchFamily="34" charset="-120"/>
              </a:rPr>
              <a:t>Stewardship</a:t>
            </a:r>
            <a:endParaRPr lang="en-US" sz="6800" dirty="0"/>
          </a:p>
          <a:p>
            <a:pPr indent="0" marL="0">
              <a:lnSpc>
                <a:spcPct val="90000"/>
              </a:lnSpc>
              <a:buNone/>
            </a:pPr>
            <a:r>
              <a:rPr lang="en-US" sz="6800" dirty="0">
                <a:solidFill>
                  <a:srgbClr val="111111"/>
                </a:solidFill>
                <a:latin typeface="Arial Black" pitchFamily="34" charset="0"/>
                <a:ea typeface="Arial Black" pitchFamily="34" charset="-122"/>
                <a:cs typeface="Arial Black" pitchFamily="34" charset="-120"/>
              </a:rPr>
              <a:t>Copilot</a:t>
            </a:r>
            <a:endParaRPr lang="en-US" sz="6800" dirty="0"/>
          </a:p>
        </p:txBody>
      </p:sp>
      <p:sp>
        <p:nvSpPr>
          <p:cNvPr id="4" name="Shape 2"/>
          <p:cNvSpPr/>
          <p:nvPr/>
        </p:nvSpPr>
        <p:spPr>
          <a:xfrm>
            <a:off x="1016000" y="4889500"/>
            <a:ext cx="2032000" cy="88900"/>
          </a:xfrm>
          <a:prstGeom prst="rect">
            <a:avLst/>
          </a:prstGeom>
          <a:solidFill>
            <a:srgbClr val="E63312"/>
          </a:solidFill>
          <a:ln/>
        </p:spPr>
      </p:sp>
      <p:sp>
        <p:nvSpPr>
          <p:cNvPr id="5" name="Text 3"/>
          <p:cNvSpPr txBox="1"/>
          <p:nvPr/>
        </p:nvSpPr>
        <p:spPr>
          <a:xfrm>
            <a:off x="1016000" y="5270500"/>
            <a:ext cx="6350000" cy="762000"/>
          </a:xfrm>
          <a:prstGeom prst="rect">
            <a:avLst/>
          </a:prstGeom>
          <a:noFill/>
          <a:ln/>
        </p:spPr>
        <p:txBody>
          <a:bodyPr wrap="square" lIns="0" tIns="0" rIns="0" bIns="0" rtlCol="0" anchor="t"/>
          <a:lstStyle/>
          <a:p>
            <a:pPr indent="0" marL="0">
              <a:buNone/>
            </a:pPr>
            <a:r>
              <a:rPr lang="en-US" sz="2000" dirty="0">
                <a:solidFill>
                  <a:srgbClr val="666666"/>
                </a:solidFill>
                <a:latin typeface="Arial" pitchFamily="34" charset="0"/>
                <a:ea typeface="Arial" pitchFamily="34" charset="-122"/>
                <a:cs typeface="Arial" pitchFamily="34" charset="-120"/>
              </a:rPr>
              <a:t>Checks every antibiotic order against India's national guideline.</a:t>
            </a:r>
            <a:endParaRPr lang="en-US" sz="2000" dirty="0"/>
          </a:p>
        </p:txBody>
      </p:sp>
      <p:sp>
        <p:nvSpPr>
          <p:cNvPr id="6" name="Text 4"/>
          <p:cNvSpPr txBox="1"/>
          <p:nvPr/>
        </p:nvSpPr>
        <p:spPr>
          <a:xfrm>
            <a:off x="8128000" y="5270500"/>
            <a:ext cx="3048000" cy="1016000"/>
          </a:xfrm>
          <a:prstGeom prst="rect">
            <a:avLst/>
          </a:prstGeom>
          <a:noFill/>
          <a:ln/>
        </p:spPr>
        <p:txBody>
          <a:bodyPr wrap="square" lIns="0" tIns="0" rIns="0" bIns="0" rtlCol="0" anchor="t"/>
          <a:lstStyle/>
          <a:p>
            <a:pPr indent="0" marL="0">
              <a:buNone/>
            </a:pPr>
            <a:r>
              <a:rPr lang="en-US" sz="1800" dirty="0">
                <a:solidFill>
                  <a:srgbClr val="111111"/>
                </a:solidFill>
                <a:latin typeface="Arial Black" pitchFamily="34" charset="0"/>
                <a:ea typeface="Arial Black" pitchFamily="34" charset="-122"/>
                <a:cs typeface="Arial Black" pitchFamily="34" charset="-120"/>
              </a:rPr>
              <a:t>The engine suggests. The pharmacist decides.</a:t>
            </a:r>
            <a:endParaRPr lang="en-US" sz="1800" dirty="0"/>
          </a:p>
        </p:txBody>
      </p:sp>
      <p:sp>
        <p:nvSpPr>
          <p:cNvPr id="7" name="Shape 5"/>
          <p:cNvSpPr/>
          <p:nvPr/>
        </p:nvSpPr>
        <p:spPr>
          <a:xfrm>
            <a:off x="9188450" y="1568450"/>
            <a:ext cx="1943100" cy="1943100"/>
          </a:xfrm>
          <a:prstGeom prst="ellipse">
            <a:avLst/>
          </a:prstGeom>
          <a:ln w="127000">
            <a:solidFill>
              <a:srgbClr val="111111"/>
            </a:solidFill>
            <a:prstDash val="solid"/>
          </a:ln>
        </p:spPr>
      </p:sp>
      <p:sp>
        <p:nvSpPr>
          <p:cNvPr id="8" name="Shape 6"/>
          <p:cNvSpPr/>
          <p:nvPr/>
        </p:nvSpPr>
        <p:spPr>
          <a:xfrm>
            <a:off x="9874250" y="2254250"/>
            <a:ext cx="571500" cy="571500"/>
          </a:xfrm>
          <a:prstGeom prst="ellipse">
            <a:avLst/>
          </a:prstGeom>
          <a:solidFill>
            <a:srgbClr val="E6331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01 · PROBLEM UNDERSTANDING</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Wrong antibiotics breed resistance</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01</a:t>
            </a:r>
            <a:endParaRPr lang="en-US" sz="5500" dirty="0"/>
          </a:p>
        </p:txBody>
      </p:sp>
      <p:sp>
        <p:nvSpPr>
          <p:cNvPr id="5" name="Text 3"/>
          <p:cNvSpPr txBox="1"/>
          <p:nvPr/>
        </p:nvSpPr>
        <p:spPr>
          <a:xfrm>
            <a:off x="1016000" y="2222500"/>
            <a:ext cx="5461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PROBLEM STATEMENT HC-03</a:t>
            </a:r>
            <a:endParaRPr lang="en-US" sz="1100" dirty="0"/>
          </a:p>
        </p:txBody>
      </p:sp>
      <p:sp>
        <p:nvSpPr>
          <p:cNvPr id="6" name="Text 4"/>
          <p:cNvSpPr txBox="1"/>
          <p:nvPr/>
        </p:nvSpPr>
        <p:spPr>
          <a:xfrm>
            <a:off x="1016000" y="2489200"/>
            <a:ext cx="5715000" cy="1524000"/>
          </a:xfrm>
          <a:prstGeom prst="rect">
            <a:avLst/>
          </a:prstGeom>
          <a:noFill/>
          <a:ln/>
        </p:spPr>
        <p:txBody>
          <a:bodyPr wrap="square" lIns="0" tIns="0" rIns="0" bIns="0" rtlCol="0" anchor="t"/>
          <a:lstStyle/>
          <a:p>
            <a:pPr indent="0" marL="0">
              <a:buNone/>
            </a:pPr>
            <a:r>
              <a:rPr lang="en-US" sz="2100" i="1" dirty="0">
                <a:solidFill>
                  <a:srgbClr val="111111"/>
                </a:solidFill>
                <a:latin typeface="Arial" pitchFamily="34" charset="0"/>
                <a:ea typeface="Arial" pitchFamily="34" charset="-122"/>
                <a:cs typeface="Arial" pitchFamily="34" charset="-120"/>
              </a:rPr>
              <a:t>Check antibiotic prescriptions against guidelines; flag wrong drug, dose, duration or missing culture; suggest safer options for pharmacist approval.</a:t>
            </a:r>
            <a:endParaRPr lang="en-US" sz="2100" dirty="0"/>
          </a:p>
        </p:txBody>
      </p:sp>
      <p:sp>
        <p:nvSpPr>
          <p:cNvPr id="7" name="Text 5"/>
          <p:cNvSpPr txBox="1"/>
          <p:nvPr/>
        </p:nvSpPr>
        <p:spPr>
          <a:xfrm>
            <a:off x="1016000" y="4381500"/>
            <a:ext cx="5461000" cy="190500"/>
          </a:xfrm>
          <a:prstGeom prst="rect">
            <a:avLst/>
          </a:prstGeom>
          <a:noFill/>
          <a:ln/>
        </p:spPr>
        <p:txBody>
          <a:bodyPr wrap="square" lIns="0" tIns="0" rIns="0" bIns="0" rtlCol="0" anchor="t"/>
          <a:lstStyle/>
          <a:p>
            <a:pPr indent="0" marL="0">
              <a:buNone/>
            </a:pPr>
            <a:r>
              <a:rPr lang="en-US" sz="1100" b="1" spc="300" kern="0" dirty="0">
                <a:solidFill>
                  <a:srgbClr val="666666"/>
                </a:solidFill>
                <a:latin typeface="Arial" pitchFamily="34" charset="0"/>
                <a:ea typeface="Arial" pitchFamily="34" charset="-122"/>
                <a:cs typeface="Arial" pitchFamily="34" charset="-120"/>
              </a:rPr>
              <a:t>WHO IS AFFECTED</a:t>
            </a:r>
            <a:endParaRPr lang="en-US" sz="1100" dirty="0"/>
          </a:p>
        </p:txBody>
      </p:sp>
      <p:sp>
        <p:nvSpPr>
          <p:cNvPr id="8" name="Text 6"/>
          <p:cNvSpPr txBox="1"/>
          <p:nvPr/>
        </p:nvSpPr>
        <p:spPr>
          <a:xfrm>
            <a:off x="1016000" y="4622800"/>
            <a:ext cx="5715000" cy="31750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Pharmacists, prescribing doctors, patients</a:t>
            </a:r>
            <a:endParaRPr lang="en-US" sz="1700" dirty="0"/>
          </a:p>
        </p:txBody>
      </p:sp>
      <p:sp>
        <p:nvSpPr>
          <p:cNvPr id="9" name="Text 7"/>
          <p:cNvSpPr txBox="1"/>
          <p:nvPr/>
        </p:nvSpPr>
        <p:spPr>
          <a:xfrm>
            <a:off x="1016000" y="5143500"/>
            <a:ext cx="5461000" cy="190500"/>
          </a:xfrm>
          <a:prstGeom prst="rect">
            <a:avLst/>
          </a:prstGeom>
          <a:noFill/>
          <a:ln/>
        </p:spPr>
        <p:txBody>
          <a:bodyPr wrap="square" lIns="0" tIns="0" rIns="0" bIns="0" rtlCol="0" anchor="t"/>
          <a:lstStyle/>
          <a:p>
            <a:pPr indent="0" marL="0">
              <a:buNone/>
            </a:pPr>
            <a:r>
              <a:rPr lang="en-US" sz="1100" b="1" spc="300" kern="0" dirty="0">
                <a:solidFill>
                  <a:srgbClr val="666666"/>
                </a:solidFill>
                <a:latin typeface="Arial" pitchFamily="34" charset="0"/>
                <a:ea typeface="Arial" pitchFamily="34" charset="-122"/>
                <a:cs typeface="Arial" pitchFamily="34" charset="-120"/>
              </a:rPr>
              <a:t>TODAY</a:t>
            </a:r>
            <a:endParaRPr lang="en-US" sz="1100" dirty="0"/>
          </a:p>
        </p:txBody>
      </p:sp>
      <p:sp>
        <p:nvSpPr>
          <p:cNvPr id="10" name="Text 8"/>
          <p:cNvSpPr txBox="1"/>
          <p:nvPr/>
        </p:nvSpPr>
        <p:spPr>
          <a:xfrm>
            <a:off x="1016000" y="5384800"/>
            <a:ext cx="5715000" cy="571500"/>
          </a:xfrm>
          <a:prstGeom prst="rect">
            <a:avLst/>
          </a:prstGeom>
          <a:noFill/>
          <a:ln/>
        </p:spPr>
        <p:txBody>
          <a:bodyPr wrap="square" lIns="0" tIns="0" rIns="0" bIns="0" rtlCol="0" anchor="t"/>
          <a:lstStyle/>
          <a:p>
            <a:pPr indent="0" marL="0">
              <a:buNone/>
            </a:pPr>
            <a:r>
              <a:rPr lang="en-US" sz="1700" b="1" dirty="0">
                <a:solidFill>
                  <a:srgbClr val="111111"/>
                </a:solidFill>
                <a:latin typeface="Arial" pitchFamily="34" charset="0"/>
                <a:ea typeface="Arial" pitchFamily="34" charset="-122"/>
                <a:cs typeface="Arial" pitchFamily="34" charset="-120"/>
              </a:rPr>
              <a:t>Handwritten, brand-name prescriptions checked by hand</a:t>
            </a:r>
            <a:endParaRPr lang="en-US" sz="1700" dirty="0"/>
          </a:p>
        </p:txBody>
      </p:sp>
      <p:sp>
        <p:nvSpPr>
          <p:cNvPr id="11" name="Text 9"/>
          <p:cNvSpPr txBox="1"/>
          <p:nvPr/>
        </p:nvSpPr>
        <p:spPr>
          <a:xfrm>
            <a:off x="7620000" y="2222500"/>
            <a:ext cx="3556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WHY IT MATTERS</a:t>
            </a:r>
            <a:endParaRPr lang="en-US" sz="1100" dirty="0"/>
          </a:p>
        </p:txBody>
      </p:sp>
      <p:sp>
        <p:nvSpPr>
          <p:cNvPr id="12" name="Text 10"/>
          <p:cNvSpPr txBox="1"/>
          <p:nvPr/>
        </p:nvSpPr>
        <p:spPr>
          <a:xfrm>
            <a:off x="7620000" y="2508250"/>
            <a:ext cx="3810000" cy="1016000"/>
          </a:xfrm>
          <a:prstGeom prst="rect">
            <a:avLst/>
          </a:prstGeom>
          <a:noFill/>
          <a:ln/>
        </p:spPr>
        <p:txBody>
          <a:bodyPr wrap="square" lIns="0" tIns="0" rIns="0" bIns="0" rtlCol="0" anchor="ctr"/>
          <a:lstStyle/>
          <a:p>
            <a:pPr indent="0" marL="0">
              <a:buNone/>
            </a:pPr>
            <a:r>
              <a:rPr lang="en-US" sz="7500" dirty="0">
                <a:solidFill>
                  <a:srgbClr val="E63312"/>
                </a:solidFill>
                <a:latin typeface="Arial Black" pitchFamily="34" charset="0"/>
                <a:ea typeface="Arial Black" pitchFamily="34" charset="-122"/>
                <a:cs typeface="Arial Black" pitchFamily="34" charset="-120"/>
              </a:rPr>
              <a:t>1.27 M</a:t>
            </a:r>
            <a:endParaRPr lang="en-US" sz="7500" dirty="0"/>
          </a:p>
        </p:txBody>
      </p:sp>
      <p:sp>
        <p:nvSpPr>
          <p:cNvPr id="13" name="Text 11"/>
          <p:cNvSpPr txBox="1"/>
          <p:nvPr/>
        </p:nvSpPr>
        <p:spPr>
          <a:xfrm>
            <a:off x="7620000" y="3556000"/>
            <a:ext cx="3556000" cy="57150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deaths caused by drug-resistant bacteria in 2019</a:t>
            </a:r>
            <a:endParaRPr lang="en-US" sz="1600" dirty="0"/>
          </a:p>
        </p:txBody>
      </p:sp>
      <p:sp>
        <p:nvSpPr>
          <p:cNvPr id="14" name="Text 12"/>
          <p:cNvSpPr txBox="1"/>
          <p:nvPr/>
        </p:nvSpPr>
        <p:spPr>
          <a:xfrm>
            <a:off x="7620000" y="4318000"/>
            <a:ext cx="3810000" cy="1016000"/>
          </a:xfrm>
          <a:prstGeom prst="rect">
            <a:avLst/>
          </a:prstGeom>
          <a:noFill/>
          <a:ln/>
        </p:spPr>
        <p:txBody>
          <a:bodyPr wrap="square" lIns="0" tIns="0" rIns="0" bIns="0" rtlCol="0" anchor="ctr"/>
          <a:lstStyle/>
          <a:p>
            <a:pPr indent="0" marL="0">
              <a:buNone/>
            </a:pPr>
            <a:r>
              <a:rPr lang="en-US" sz="7500" dirty="0">
                <a:solidFill>
                  <a:srgbClr val="111111"/>
                </a:solidFill>
                <a:latin typeface="Arial Black" pitchFamily="34" charset="0"/>
                <a:ea typeface="Arial Black" pitchFamily="34" charset="-122"/>
                <a:cs typeface="Arial Black" pitchFamily="34" charset="-120"/>
              </a:rPr>
              <a:t>70%</a:t>
            </a:r>
            <a:endParaRPr lang="en-US" sz="7500" dirty="0"/>
          </a:p>
        </p:txBody>
      </p:sp>
      <p:sp>
        <p:nvSpPr>
          <p:cNvPr id="15" name="Text 13"/>
          <p:cNvSpPr txBox="1"/>
          <p:nvPr/>
        </p:nvSpPr>
        <p:spPr>
          <a:xfrm>
            <a:off x="7620000" y="5365750"/>
            <a:ext cx="3556000" cy="571500"/>
          </a:xfrm>
          <a:prstGeom prst="rect">
            <a:avLst/>
          </a:prstGeom>
          <a:noFill/>
          <a:ln/>
        </p:spPr>
        <p:txBody>
          <a:bodyPr wrap="square" lIns="0" tIns="0" rIns="0" bIns="0" rtlCol="0" anchor="t"/>
          <a:lstStyle/>
          <a:p>
            <a:pPr indent="0" marL="0">
              <a:buNone/>
            </a:pPr>
            <a:r>
              <a:rPr lang="en-US" sz="1600" dirty="0">
                <a:solidFill>
                  <a:srgbClr val="111111"/>
                </a:solidFill>
                <a:latin typeface="Arial" pitchFamily="34" charset="0"/>
                <a:ea typeface="Arial" pitchFamily="34" charset="-122"/>
                <a:cs typeface="Arial" pitchFamily="34" charset="-120"/>
              </a:rPr>
              <a:t>UN target: antibiotic use from WHO Access drugs by 2030</a:t>
            </a:r>
            <a:endParaRPr lang="en-US" sz="1600" dirty="0"/>
          </a:p>
        </p:txBody>
      </p:sp>
      <p:sp>
        <p:nvSpPr>
          <p:cNvPr id="16" name="Text 14"/>
          <p:cNvSpPr txBox="1"/>
          <p:nvPr/>
        </p:nvSpPr>
        <p:spPr>
          <a:xfrm>
            <a:off x="7620000" y="6096000"/>
            <a:ext cx="3556000" cy="190500"/>
          </a:xfrm>
          <a:prstGeom prst="rect">
            <a:avLst/>
          </a:prstGeom>
          <a:noFill/>
          <a:ln/>
        </p:spPr>
        <p:txBody>
          <a:bodyPr wrap="square" lIns="0" tIns="0" rIns="0" bIns="0" rtlCol="0" anchor="t"/>
          <a:lstStyle/>
          <a:p>
            <a:pPr indent="0" marL="0">
              <a:buNone/>
            </a:pPr>
            <a:r>
              <a:rPr lang="en-US" sz="1000" dirty="0">
                <a:solidFill>
                  <a:srgbClr val="666666"/>
                </a:solidFill>
                <a:latin typeface="Arial" pitchFamily="34" charset="0"/>
                <a:ea typeface="Arial" pitchFamily="34" charset="-122"/>
                <a:cs typeface="Arial" pitchFamily="34" charset="-120"/>
              </a:rPr>
              <a:t>Lancet 2022 (GRAM) · UNGA AMR Declaration 2024</a:t>
            </a:r>
            <a:endParaRPr lang="en-US" sz="10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02 · EXISTING SOLUTIONS &amp; GAP</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What exists today falls short</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02</a:t>
            </a:r>
            <a:endParaRPr lang="en-US" sz="5500" dirty="0"/>
          </a:p>
        </p:txBody>
      </p:sp>
      <p:sp>
        <p:nvSpPr>
          <p:cNvPr id="5" name="Text 3"/>
          <p:cNvSpPr txBox="1"/>
          <p:nvPr/>
        </p:nvSpPr>
        <p:spPr>
          <a:xfrm>
            <a:off x="1016000" y="2286000"/>
            <a:ext cx="6096000" cy="406400"/>
          </a:xfrm>
          <a:prstGeom prst="rect">
            <a:avLst/>
          </a:prstGeom>
          <a:noFill/>
          <a:ln/>
        </p:spPr>
        <p:txBody>
          <a:bodyPr wrap="square" lIns="0" tIns="0" rIns="0" bIns="0" rtlCol="0" anchor="t"/>
          <a:lstStyle/>
          <a:p>
            <a:pPr indent="0" marL="0">
              <a:buNone/>
            </a:pPr>
            <a:r>
              <a:rPr lang="en-US" sz="2300" dirty="0">
                <a:solidFill>
                  <a:srgbClr val="111111"/>
                </a:solidFill>
                <a:latin typeface="Arial Black" pitchFamily="34" charset="0"/>
                <a:ea typeface="Arial Black" pitchFamily="34" charset="-122"/>
                <a:cs typeface="Arial Black" pitchFamily="34" charset="-120"/>
              </a:rPr>
              <a:t>Manual pharmacist review</a:t>
            </a:r>
            <a:endParaRPr lang="en-US" sz="2300" dirty="0"/>
          </a:p>
        </p:txBody>
      </p:sp>
      <p:sp>
        <p:nvSpPr>
          <p:cNvPr id="6" name="Text 4"/>
          <p:cNvSpPr txBox="1"/>
          <p:nvPr/>
        </p:nvSpPr>
        <p:spPr>
          <a:xfrm>
            <a:off x="1016000" y="2705100"/>
            <a:ext cx="6096000" cy="292100"/>
          </a:xfrm>
          <a:prstGeom prst="rect">
            <a:avLst/>
          </a:prstGeom>
          <a:noFill/>
          <a:ln/>
        </p:spPr>
        <p:txBody>
          <a:bodyPr wrap="square" lIns="0" tIns="0" rIns="0" bIns="0" rtlCol="0" anchor="t"/>
          <a:lstStyle/>
          <a:p>
            <a:pPr indent="0" marL="0">
              <a:buNone/>
            </a:pPr>
            <a:r>
              <a:rPr lang="en-US" sz="1600" dirty="0">
                <a:solidFill>
                  <a:srgbClr val="666666"/>
                </a:solidFill>
                <a:latin typeface="Arial" pitchFamily="34" charset="0"/>
                <a:ea typeface="Arial" pitchFamily="34" charset="-122"/>
                <a:cs typeface="Arial" pitchFamily="34" charset="-120"/>
              </a:rPr>
              <a:t>slow; cannot cover every order</a:t>
            </a:r>
            <a:endParaRPr lang="en-US" sz="1600" dirty="0"/>
          </a:p>
        </p:txBody>
      </p:sp>
      <p:sp>
        <p:nvSpPr>
          <p:cNvPr id="7" name="Shape 5"/>
          <p:cNvSpPr/>
          <p:nvPr/>
        </p:nvSpPr>
        <p:spPr>
          <a:xfrm>
            <a:off x="1016000" y="3124200"/>
            <a:ext cx="6096000" cy="0"/>
          </a:xfrm>
          <a:prstGeom prst="line">
            <a:avLst/>
          </a:prstGeom>
          <a:noFill/>
          <a:ln w="12700">
            <a:solidFill>
              <a:srgbClr val="D8D8D4"/>
            </a:solidFill>
            <a:prstDash val="solid"/>
          </a:ln>
        </p:spPr>
      </p:sp>
      <p:sp>
        <p:nvSpPr>
          <p:cNvPr id="8" name="Text 6"/>
          <p:cNvSpPr txBox="1"/>
          <p:nvPr/>
        </p:nvSpPr>
        <p:spPr>
          <a:xfrm>
            <a:off x="1016000" y="3238500"/>
            <a:ext cx="6096000" cy="406400"/>
          </a:xfrm>
          <a:prstGeom prst="rect">
            <a:avLst/>
          </a:prstGeom>
          <a:noFill/>
          <a:ln/>
        </p:spPr>
        <p:txBody>
          <a:bodyPr wrap="square" lIns="0" tIns="0" rIns="0" bIns="0" rtlCol="0" anchor="t"/>
          <a:lstStyle/>
          <a:p>
            <a:pPr indent="0" marL="0">
              <a:buNone/>
            </a:pPr>
            <a:r>
              <a:rPr lang="en-US" sz="2300" dirty="0">
                <a:solidFill>
                  <a:srgbClr val="111111"/>
                </a:solidFill>
                <a:latin typeface="Arial Black" pitchFamily="34" charset="0"/>
                <a:ea typeface="Arial Black" pitchFamily="34" charset="-122"/>
                <a:cs typeface="Arial Black" pitchFamily="34" charset="-120"/>
              </a:rPr>
              <a:t>Guideline PDFs</a:t>
            </a:r>
            <a:endParaRPr lang="en-US" sz="2300" dirty="0"/>
          </a:p>
        </p:txBody>
      </p:sp>
      <p:sp>
        <p:nvSpPr>
          <p:cNvPr id="9" name="Text 7"/>
          <p:cNvSpPr txBox="1"/>
          <p:nvPr/>
        </p:nvSpPr>
        <p:spPr>
          <a:xfrm>
            <a:off x="1016000" y="3657600"/>
            <a:ext cx="6096000" cy="292100"/>
          </a:xfrm>
          <a:prstGeom prst="rect">
            <a:avLst/>
          </a:prstGeom>
          <a:noFill/>
          <a:ln/>
        </p:spPr>
        <p:txBody>
          <a:bodyPr wrap="square" lIns="0" tIns="0" rIns="0" bIns="0" rtlCol="0" anchor="t"/>
          <a:lstStyle/>
          <a:p>
            <a:pPr indent="0" marL="0">
              <a:buNone/>
            </a:pPr>
            <a:r>
              <a:rPr lang="en-US" sz="1600" dirty="0">
                <a:solidFill>
                  <a:srgbClr val="666666"/>
                </a:solidFill>
                <a:latin typeface="Arial" pitchFamily="34" charset="0"/>
                <a:ea typeface="Arial" pitchFamily="34" charset="-122"/>
                <a:cs typeface="Arial" pitchFamily="34" charset="-120"/>
              </a:rPr>
              <a:t>not specific to the patient</a:t>
            </a:r>
            <a:endParaRPr lang="en-US" sz="1600" dirty="0"/>
          </a:p>
        </p:txBody>
      </p:sp>
      <p:sp>
        <p:nvSpPr>
          <p:cNvPr id="10" name="Shape 8"/>
          <p:cNvSpPr/>
          <p:nvPr/>
        </p:nvSpPr>
        <p:spPr>
          <a:xfrm>
            <a:off x="1016000" y="4076700"/>
            <a:ext cx="6096000" cy="0"/>
          </a:xfrm>
          <a:prstGeom prst="line">
            <a:avLst/>
          </a:prstGeom>
          <a:noFill/>
          <a:ln w="12700">
            <a:solidFill>
              <a:srgbClr val="D8D8D4"/>
            </a:solidFill>
            <a:prstDash val="solid"/>
          </a:ln>
        </p:spPr>
      </p:sp>
      <p:sp>
        <p:nvSpPr>
          <p:cNvPr id="11" name="Text 9"/>
          <p:cNvSpPr txBox="1"/>
          <p:nvPr/>
        </p:nvSpPr>
        <p:spPr>
          <a:xfrm>
            <a:off x="1016000" y="4191000"/>
            <a:ext cx="6096000" cy="406400"/>
          </a:xfrm>
          <a:prstGeom prst="rect">
            <a:avLst/>
          </a:prstGeom>
          <a:noFill/>
          <a:ln/>
        </p:spPr>
        <p:txBody>
          <a:bodyPr wrap="square" lIns="0" tIns="0" rIns="0" bIns="0" rtlCol="0" anchor="t"/>
          <a:lstStyle/>
          <a:p>
            <a:pPr indent="0" marL="0">
              <a:buNone/>
            </a:pPr>
            <a:r>
              <a:rPr lang="en-US" sz="2300" dirty="0">
                <a:solidFill>
                  <a:srgbClr val="111111"/>
                </a:solidFill>
                <a:latin typeface="Arial Black" pitchFamily="34" charset="0"/>
                <a:ea typeface="Arial Black" pitchFamily="34" charset="-122"/>
                <a:cs typeface="Arial Black" pitchFamily="34" charset="-120"/>
              </a:rPr>
              <a:t>Generic EHR alerts</a:t>
            </a:r>
            <a:endParaRPr lang="en-US" sz="2300" dirty="0"/>
          </a:p>
        </p:txBody>
      </p:sp>
      <p:sp>
        <p:nvSpPr>
          <p:cNvPr id="12" name="Text 10"/>
          <p:cNvSpPr txBox="1"/>
          <p:nvPr/>
        </p:nvSpPr>
        <p:spPr>
          <a:xfrm>
            <a:off x="1016000" y="4610100"/>
            <a:ext cx="6096000" cy="292100"/>
          </a:xfrm>
          <a:prstGeom prst="rect">
            <a:avLst/>
          </a:prstGeom>
          <a:noFill/>
          <a:ln/>
        </p:spPr>
        <p:txBody>
          <a:bodyPr wrap="square" lIns="0" tIns="0" rIns="0" bIns="0" rtlCol="0" anchor="t"/>
          <a:lstStyle/>
          <a:p>
            <a:pPr indent="0" marL="0">
              <a:buNone/>
            </a:pPr>
            <a:r>
              <a:rPr lang="en-US" sz="1600" dirty="0">
                <a:solidFill>
                  <a:srgbClr val="666666"/>
                </a:solidFill>
                <a:latin typeface="Arial" pitchFamily="34" charset="0"/>
                <a:ea typeface="Arial" pitchFamily="34" charset="-122"/>
                <a:cs typeface="Arial" pitchFamily="34" charset="-120"/>
              </a:rPr>
              <a:t>missing data looks like "no alert"</a:t>
            </a:r>
            <a:endParaRPr lang="en-US" sz="1600" dirty="0"/>
          </a:p>
        </p:txBody>
      </p:sp>
      <p:sp>
        <p:nvSpPr>
          <p:cNvPr id="13" name="Shape 11"/>
          <p:cNvSpPr/>
          <p:nvPr/>
        </p:nvSpPr>
        <p:spPr>
          <a:xfrm>
            <a:off x="1016000" y="5029200"/>
            <a:ext cx="6096000" cy="0"/>
          </a:xfrm>
          <a:prstGeom prst="line">
            <a:avLst/>
          </a:prstGeom>
          <a:noFill/>
          <a:ln w="12700">
            <a:solidFill>
              <a:srgbClr val="D8D8D4"/>
            </a:solidFill>
            <a:prstDash val="solid"/>
          </a:ln>
        </p:spPr>
      </p:sp>
      <p:sp>
        <p:nvSpPr>
          <p:cNvPr id="14" name="Text 12"/>
          <p:cNvSpPr txBox="1"/>
          <p:nvPr/>
        </p:nvSpPr>
        <p:spPr>
          <a:xfrm>
            <a:off x="1016000" y="5143500"/>
            <a:ext cx="6096000" cy="406400"/>
          </a:xfrm>
          <a:prstGeom prst="rect">
            <a:avLst/>
          </a:prstGeom>
          <a:noFill/>
          <a:ln/>
        </p:spPr>
        <p:txBody>
          <a:bodyPr wrap="square" lIns="0" tIns="0" rIns="0" bIns="0" rtlCol="0" anchor="t"/>
          <a:lstStyle/>
          <a:p>
            <a:pPr indent="0" marL="0">
              <a:buNone/>
            </a:pPr>
            <a:r>
              <a:rPr lang="en-US" sz="2300" dirty="0">
                <a:solidFill>
                  <a:srgbClr val="111111"/>
                </a:solidFill>
                <a:latin typeface="Arial Black" pitchFamily="34" charset="0"/>
                <a:ea typeface="Arial Black" pitchFamily="34" charset="-122"/>
                <a:cs typeface="Arial Black" pitchFamily="34" charset="-120"/>
              </a:rPr>
              <a:t>LLM chatbots</a:t>
            </a:r>
            <a:endParaRPr lang="en-US" sz="2300" dirty="0"/>
          </a:p>
        </p:txBody>
      </p:sp>
      <p:sp>
        <p:nvSpPr>
          <p:cNvPr id="15" name="Text 13"/>
          <p:cNvSpPr txBox="1"/>
          <p:nvPr/>
        </p:nvSpPr>
        <p:spPr>
          <a:xfrm>
            <a:off x="1016000" y="5562600"/>
            <a:ext cx="6096000" cy="292100"/>
          </a:xfrm>
          <a:prstGeom prst="rect">
            <a:avLst/>
          </a:prstGeom>
          <a:noFill/>
          <a:ln/>
        </p:spPr>
        <p:txBody>
          <a:bodyPr wrap="square" lIns="0" tIns="0" rIns="0" bIns="0" rtlCol="0" anchor="t"/>
          <a:lstStyle/>
          <a:p>
            <a:pPr indent="0" marL="0">
              <a:buNone/>
            </a:pPr>
            <a:r>
              <a:rPr lang="en-US" sz="1600" dirty="0">
                <a:solidFill>
                  <a:srgbClr val="666666"/>
                </a:solidFill>
                <a:latin typeface="Arial" pitchFamily="34" charset="0"/>
                <a:ea typeface="Arial" pitchFamily="34" charset="-122"/>
                <a:cs typeface="Arial" pitchFamily="34" charset="-120"/>
              </a:rPr>
              <a:t>can invent doses; no audit trail</a:t>
            </a:r>
            <a:endParaRPr lang="en-US" sz="1600" dirty="0"/>
          </a:p>
        </p:txBody>
      </p:sp>
      <p:sp>
        <p:nvSpPr>
          <p:cNvPr id="16" name="Shape 14"/>
          <p:cNvSpPr/>
          <p:nvPr/>
        </p:nvSpPr>
        <p:spPr>
          <a:xfrm>
            <a:off x="7620000" y="2286000"/>
            <a:ext cx="3556000" cy="3556000"/>
          </a:xfrm>
          <a:prstGeom prst="rect">
            <a:avLst/>
          </a:prstGeom>
          <a:solidFill>
            <a:srgbClr val="111111"/>
          </a:solidFill>
          <a:ln/>
        </p:spPr>
      </p:sp>
      <p:sp>
        <p:nvSpPr>
          <p:cNvPr id="17" name="Text 15"/>
          <p:cNvSpPr txBox="1"/>
          <p:nvPr/>
        </p:nvSpPr>
        <p:spPr>
          <a:xfrm>
            <a:off x="7975600" y="2641600"/>
            <a:ext cx="28575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THE GAP</a:t>
            </a:r>
            <a:endParaRPr lang="en-US" sz="1100" dirty="0"/>
          </a:p>
        </p:txBody>
      </p:sp>
      <p:sp>
        <p:nvSpPr>
          <p:cNvPr id="18" name="Text 16"/>
          <p:cNvSpPr txBox="1"/>
          <p:nvPr/>
        </p:nvSpPr>
        <p:spPr>
          <a:xfrm>
            <a:off x="7975600" y="2984500"/>
            <a:ext cx="2857500" cy="2667000"/>
          </a:xfrm>
          <a:prstGeom prst="rect">
            <a:avLst/>
          </a:prstGeom>
          <a:noFill/>
          <a:ln/>
        </p:spPr>
        <p:txBody>
          <a:bodyPr wrap="square" lIns="0" tIns="0" rIns="0" bIns="0" rtlCol="0" anchor="t"/>
          <a:lstStyle/>
          <a:p>
            <a:pPr indent="0" marL="0">
              <a:lnSpc>
                <a:spcPct val="105000"/>
              </a:lnSpc>
              <a:buNone/>
            </a:pPr>
            <a:r>
              <a:rPr lang="en-US" sz="2300" dirty="0">
                <a:solidFill>
                  <a:srgbClr val="FFFFFF"/>
                </a:solidFill>
                <a:latin typeface="Arial Black" pitchFamily="34" charset="0"/>
                <a:ea typeface="Arial Black" pitchFamily="34" charset="-122"/>
                <a:cs typeface="Arial Black" pitchFamily="34" charset="-120"/>
              </a:rPr>
              <a:t>A check of this patient against the Indian guideline that admits what it could not check.</a:t>
            </a:r>
            <a:endParaRPr lang="en-US" sz="23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03 · PROPOSED SOLUTION</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Prescription in, reviewed plan out</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03</a:t>
            </a:r>
            <a:endParaRPr lang="en-US" sz="5500" dirty="0"/>
          </a:p>
        </p:txBody>
      </p:sp>
      <p:sp>
        <p:nvSpPr>
          <p:cNvPr id="5" name="Shape 3"/>
          <p:cNvSpPr/>
          <p:nvPr/>
        </p:nvSpPr>
        <p:spPr>
          <a:xfrm>
            <a:off x="1016000" y="2286000"/>
            <a:ext cx="3048000" cy="88900"/>
          </a:xfrm>
          <a:prstGeom prst="rect">
            <a:avLst/>
          </a:prstGeom>
          <a:solidFill>
            <a:srgbClr val="111111"/>
          </a:solidFill>
          <a:ln/>
        </p:spPr>
      </p:sp>
      <p:sp>
        <p:nvSpPr>
          <p:cNvPr id="6" name="Text 4"/>
          <p:cNvSpPr txBox="1"/>
          <p:nvPr/>
        </p:nvSpPr>
        <p:spPr>
          <a:xfrm>
            <a:off x="1016000" y="2590800"/>
            <a:ext cx="3048000" cy="190500"/>
          </a:xfrm>
          <a:prstGeom prst="rect">
            <a:avLst/>
          </a:prstGeom>
          <a:noFill/>
          <a:ln/>
        </p:spPr>
        <p:txBody>
          <a:bodyPr wrap="square" lIns="0" tIns="0" rIns="0" bIns="0" rtlCol="0" anchor="t"/>
          <a:lstStyle/>
          <a:p>
            <a:pPr indent="0" marL="0">
              <a:buNone/>
            </a:pPr>
            <a:r>
              <a:rPr lang="en-US" sz="1100" b="1" spc="300" kern="0" dirty="0">
                <a:solidFill>
                  <a:srgbClr val="666666"/>
                </a:solidFill>
                <a:latin typeface="Arial" pitchFamily="34" charset="0"/>
                <a:ea typeface="Arial" pitchFamily="34" charset="-122"/>
                <a:cs typeface="Arial" pitchFamily="34" charset="-120"/>
              </a:rPr>
              <a:t>INPUT</a:t>
            </a:r>
            <a:endParaRPr lang="en-US" sz="1100" dirty="0"/>
          </a:p>
        </p:txBody>
      </p:sp>
      <p:sp>
        <p:nvSpPr>
          <p:cNvPr id="7" name="Text 5"/>
          <p:cNvSpPr txBox="1"/>
          <p:nvPr/>
        </p:nvSpPr>
        <p:spPr>
          <a:xfrm>
            <a:off x="1016000" y="29845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Typed prescription</a:t>
            </a:r>
            <a:endParaRPr lang="en-US" sz="1900" dirty="0"/>
          </a:p>
        </p:txBody>
      </p:sp>
      <p:sp>
        <p:nvSpPr>
          <p:cNvPr id="8" name="Shape 6"/>
          <p:cNvSpPr/>
          <p:nvPr/>
        </p:nvSpPr>
        <p:spPr>
          <a:xfrm>
            <a:off x="1016000" y="3651250"/>
            <a:ext cx="3048000" cy="0"/>
          </a:xfrm>
          <a:prstGeom prst="line">
            <a:avLst/>
          </a:prstGeom>
          <a:noFill/>
          <a:ln w="12700">
            <a:solidFill>
              <a:srgbClr val="D8D8D4"/>
            </a:solidFill>
            <a:prstDash val="solid"/>
          </a:ln>
        </p:spPr>
      </p:sp>
      <p:sp>
        <p:nvSpPr>
          <p:cNvPr id="9" name="Text 7"/>
          <p:cNvSpPr txBox="1"/>
          <p:nvPr/>
        </p:nvSpPr>
        <p:spPr>
          <a:xfrm>
            <a:off x="1016000" y="36830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Patient details</a:t>
            </a:r>
            <a:endParaRPr lang="en-US" sz="1900" dirty="0"/>
          </a:p>
        </p:txBody>
      </p:sp>
      <p:sp>
        <p:nvSpPr>
          <p:cNvPr id="10" name="Shape 8"/>
          <p:cNvSpPr/>
          <p:nvPr/>
        </p:nvSpPr>
        <p:spPr>
          <a:xfrm>
            <a:off x="1016000" y="4349750"/>
            <a:ext cx="3048000" cy="0"/>
          </a:xfrm>
          <a:prstGeom prst="line">
            <a:avLst/>
          </a:prstGeom>
          <a:noFill/>
          <a:ln w="12700">
            <a:solidFill>
              <a:srgbClr val="D8D8D4"/>
            </a:solidFill>
            <a:prstDash val="solid"/>
          </a:ln>
        </p:spPr>
      </p:sp>
      <p:sp>
        <p:nvSpPr>
          <p:cNvPr id="11" name="Text 9"/>
          <p:cNvSpPr txBox="1"/>
          <p:nvPr/>
        </p:nvSpPr>
        <p:spPr>
          <a:xfrm>
            <a:off x="1016000" y="43815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Culture result</a:t>
            </a:r>
            <a:endParaRPr lang="en-US" sz="1900" dirty="0"/>
          </a:p>
        </p:txBody>
      </p:sp>
      <p:sp>
        <p:nvSpPr>
          <p:cNvPr id="12" name="Text 10"/>
          <p:cNvSpPr txBox="1"/>
          <p:nvPr/>
        </p:nvSpPr>
        <p:spPr>
          <a:xfrm>
            <a:off x="4064000" y="3556000"/>
            <a:ext cx="508000" cy="571500"/>
          </a:xfrm>
          <a:prstGeom prst="rect">
            <a:avLst/>
          </a:prstGeom>
          <a:noFill/>
          <a:ln/>
        </p:spPr>
        <p:txBody>
          <a:bodyPr wrap="square" lIns="0" tIns="0" rIns="0" bIns="0" rtlCol="0" anchor="ctr"/>
          <a:lstStyle/>
          <a:p>
            <a:pPr algn="ctr" indent="0" marL="0">
              <a:buNone/>
            </a:pPr>
            <a:r>
              <a:rPr lang="en-US" sz="3000" dirty="0">
                <a:solidFill>
                  <a:srgbClr val="111111"/>
                </a:solidFill>
                <a:latin typeface="Arial Black" pitchFamily="34" charset="0"/>
                <a:ea typeface="Arial Black" pitchFamily="34" charset="-122"/>
                <a:cs typeface="Arial Black" pitchFamily="34" charset="-120"/>
              </a:rPr>
              <a:t>→</a:t>
            </a:r>
            <a:endParaRPr lang="en-US" sz="3000" dirty="0"/>
          </a:p>
        </p:txBody>
      </p:sp>
      <p:sp>
        <p:nvSpPr>
          <p:cNvPr id="13" name="Shape 11"/>
          <p:cNvSpPr/>
          <p:nvPr/>
        </p:nvSpPr>
        <p:spPr>
          <a:xfrm>
            <a:off x="4572000" y="2286000"/>
            <a:ext cx="3048000" cy="88900"/>
          </a:xfrm>
          <a:prstGeom prst="rect">
            <a:avLst/>
          </a:prstGeom>
          <a:solidFill>
            <a:srgbClr val="E63312"/>
          </a:solidFill>
          <a:ln/>
        </p:spPr>
      </p:sp>
      <p:sp>
        <p:nvSpPr>
          <p:cNvPr id="14" name="Text 12"/>
          <p:cNvSpPr txBox="1"/>
          <p:nvPr/>
        </p:nvSpPr>
        <p:spPr>
          <a:xfrm>
            <a:off x="4572000" y="2590800"/>
            <a:ext cx="3048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DETERMINISTIC CHECKS</a:t>
            </a:r>
            <a:endParaRPr lang="en-US" sz="1100" dirty="0"/>
          </a:p>
        </p:txBody>
      </p:sp>
      <p:sp>
        <p:nvSpPr>
          <p:cNvPr id="15" name="Text 13"/>
          <p:cNvSpPr txBox="1"/>
          <p:nvPr/>
        </p:nvSpPr>
        <p:spPr>
          <a:xfrm>
            <a:off x="4572000" y="29845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Identify each drug</a:t>
            </a:r>
            <a:endParaRPr lang="en-US" sz="1900" dirty="0"/>
          </a:p>
        </p:txBody>
      </p:sp>
      <p:sp>
        <p:nvSpPr>
          <p:cNvPr id="16" name="Shape 14"/>
          <p:cNvSpPr/>
          <p:nvPr/>
        </p:nvSpPr>
        <p:spPr>
          <a:xfrm>
            <a:off x="4572000" y="3651250"/>
            <a:ext cx="3048000" cy="0"/>
          </a:xfrm>
          <a:prstGeom prst="line">
            <a:avLst/>
          </a:prstGeom>
          <a:noFill/>
          <a:ln w="12700">
            <a:solidFill>
              <a:srgbClr val="D8D8D4"/>
            </a:solidFill>
            <a:prstDash val="solid"/>
          </a:ln>
        </p:spPr>
      </p:sp>
      <p:sp>
        <p:nvSpPr>
          <p:cNvPr id="17" name="Text 15"/>
          <p:cNvSpPr txBox="1"/>
          <p:nvPr/>
        </p:nvSpPr>
        <p:spPr>
          <a:xfrm>
            <a:off x="4572000" y="36830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Run 18 cited rules</a:t>
            </a:r>
            <a:endParaRPr lang="en-US" sz="1900" dirty="0"/>
          </a:p>
        </p:txBody>
      </p:sp>
      <p:sp>
        <p:nvSpPr>
          <p:cNvPr id="18" name="Shape 16"/>
          <p:cNvSpPr/>
          <p:nvPr/>
        </p:nvSpPr>
        <p:spPr>
          <a:xfrm>
            <a:off x="4572000" y="4349750"/>
            <a:ext cx="3048000" cy="0"/>
          </a:xfrm>
          <a:prstGeom prst="line">
            <a:avLst/>
          </a:prstGeom>
          <a:noFill/>
          <a:ln w="12700">
            <a:solidFill>
              <a:srgbClr val="D8D8D4"/>
            </a:solidFill>
            <a:prstDash val="solid"/>
          </a:ln>
        </p:spPr>
      </p:sp>
      <p:sp>
        <p:nvSpPr>
          <p:cNvPr id="19" name="Text 17"/>
          <p:cNvSpPr txBox="1"/>
          <p:nvPr/>
        </p:nvSpPr>
        <p:spPr>
          <a:xfrm>
            <a:off x="4572000" y="43815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Look up interactions</a:t>
            </a:r>
            <a:endParaRPr lang="en-US" sz="1900" dirty="0"/>
          </a:p>
        </p:txBody>
      </p:sp>
      <p:sp>
        <p:nvSpPr>
          <p:cNvPr id="20" name="Text 18"/>
          <p:cNvSpPr txBox="1"/>
          <p:nvPr/>
        </p:nvSpPr>
        <p:spPr>
          <a:xfrm>
            <a:off x="7620000" y="3556000"/>
            <a:ext cx="508000" cy="571500"/>
          </a:xfrm>
          <a:prstGeom prst="rect">
            <a:avLst/>
          </a:prstGeom>
          <a:noFill/>
          <a:ln/>
        </p:spPr>
        <p:txBody>
          <a:bodyPr wrap="square" lIns="0" tIns="0" rIns="0" bIns="0" rtlCol="0" anchor="ctr"/>
          <a:lstStyle/>
          <a:p>
            <a:pPr algn="ctr" indent="0" marL="0">
              <a:buNone/>
            </a:pPr>
            <a:r>
              <a:rPr lang="en-US" sz="3000" dirty="0">
                <a:solidFill>
                  <a:srgbClr val="111111"/>
                </a:solidFill>
                <a:latin typeface="Arial Black" pitchFamily="34" charset="0"/>
                <a:ea typeface="Arial Black" pitchFamily="34" charset="-122"/>
                <a:cs typeface="Arial Black" pitchFamily="34" charset="-120"/>
              </a:rPr>
              <a:t>→</a:t>
            </a:r>
            <a:endParaRPr lang="en-US" sz="3000" dirty="0"/>
          </a:p>
        </p:txBody>
      </p:sp>
      <p:sp>
        <p:nvSpPr>
          <p:cNvPr id="21" name="Shape 19"/>
          <p:cNvSpPr/>
          <p:nvPr/>
        </p:nvSpPr>
        <p:spPr>
          <a:xfrm>
            <a:off x="8128000" y="2286000"/>
            <a:ext cx="3048000" cy="88900"/>
          </a:xfrm>
          <a:prstGeom prst="rect">
            <a:avLst/>
          </a:prstGeom>
          <a:solidFill>
            <a:srgbClr val="111111"/>
          </a:solidFill>
          <a:ln/>
        </p:spPr>
      </p:sp>
      <p:sp>
        <p:nvSpPr>
          <p:cNvPr id="22" name="Text 20"/>
          <p:cNvSpPr txBox="1"/>
          <p:nvPr/>
        </p:nvSpPr>
        <p:spPr>
          <a:xfrm>
            <a:off x="8128000" y="2590800"/>
            <a:ext cx="3048000" cy="190500"/>
          </a:xfrm>
          <a:prstGeom prst="rect">
            <a:avLst/>
          </a:prstGeom>
          <a:noFill/>
          <a:ln/>
        </p:spPr>
        <p:txBody>
          <a:bodyPr wrap="square" lIns="0" tIns="0" rIns="0" bIns="0" rtlCol="0" anchor="t"/>
          <a:lstStyle/>
          <a:p>
            <a:pPr indent="0" marL="0">
              <a:buNone/>
            </a:pPr>
            <a:r>
              <a:rPr lang="en-US" sz="1100" b="1" spc="300" kern="0" dirty="0">
                <a:solidFill>
                  <a:srgbClr val="666666"/>
                </a:solidFill>
                <a:latin typeface="Arial" pitchFamily="34" charset="0"/>
                <a:ea typeface="Arial" pitchFamily="34" charset="-122"/>
                <a:cs typeface="Arial" pitchFamily="34" charset="-120"/>
              </a:rPr>
              <a:t>OUTPUT</a:t>
            </a:r>
            <a:endParaRPr lang="en-US" sz="1100" dirty="0"/>
          </a:p>
        </p:txBody>
      </p:sp>
      <p:sp>
        <p:nvSpPr>
          <p:cNvPr id="23" name="Text 21"/>
          <p:cNvSpPr txBox="1"/>
          <p:nvPr/>
        </p:nvSpPr>
        <p:spPr>
          <a:xfrm>
            <a:off x="8128000" y="29845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PASS · FLAG · CANNOT_ASSESS</a:t>
            </a:r>
            <a:endParaRPr lang="en-US" sz="1900" dirty="0"/>
          </a:p>
        </p:txBody>
      </p:sp>
      <p:sp>
        <p:nvSpPr>
          <p:cNvPr id="24" name="Shape 22"/>
          <p:cNvSpPr/>
          <p:nvPr/>
        </p:nvSpPr>
        <p:spPr>
          <a:xfrm>
            <a:off x="8128000" y="3651250"/>
            <a:ext cx="3048000" cy="0"/>
          </a:xfrm>
          <a:prstGeom prst="line">
            <a:avLst/>
          </a:prstGeom>
          <a:noFill/>
          <a:ln w="12700">
            <a:solidFill>
              <a:srgbClr val="D8D8D4"/>
            </a:solidFill>
            <a:prstDash val="solid"/>
          </a:ln>
        </p:spPr>
      </p:sp>
      <p:sp>
        <p:nvSpPr>
          <p:cNvPr id="25" name="Text 23"/>
          <p:cNvSpPr txBox="1"/>
          <p:nvPr/>
        </p:nvSpPr>
        <p:spPr>
          <a:xfrm>
            <a:off x="8128000" y="36830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Pharmacist review</a:t>
            </a:r>
            <a:endParaRPr lang="en-US" sz="1900" dirty="0"/>
          </a:p>
        </p:txBody>
      </p:sp>
      <p:sp>
        <p:nvSpPr>
          <p:cNvPr id="26" name="Shape 24"/>
          <p:cNvSpPr/>
          <p:nvPr/>
        </p:nvSpPr>
        <p:spPr>
          <a:xfrm>
            <a:off x="8128000" y="4349750"/>
            <a:ext cx="3048000" cy="0"/>
          </a:xfrm>
          <a:prstGeom prst="line">
            <a:avLst/>
          </a:prstGeom>
          <a:noFill/>
          <a:ln w="12700">
            <a:solidFill>
              <a:srgbClr val="D8D8D4"/>
            </a:solidFill>
            <a:prstDash val="solid"/>
          </a:ln>
        </p:spPr>
      </p:sp>
      <p:sp>
        <p:nvSpPr>
          <p:cNvPr id="27" name="Text 25"/>
          <p:cNvSpPr txBox="1"/>
          <p:nvPr/>
        </p:nvSpPr>
        <p:spPr>
          <a:xfrm>
            <a:off x="8128000" y="4381500"/>
            <a:ext cx="3048000" cy="6350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Signed plan + audit log</a:t>
            </a:r>
            <a:endParaRPr lang="en-US" sz="1900" dirty="0"/>
          </a:p>
        </p:txBody>
      </p:sp>
      <p:sp>
        <p:nvSpPr>
          <p:cNvPr id="28" name="Text 26"/>
          <p:cNvSpPr txBox="1"/>
          <p:nvPr/>
        </p:nvSpPr>
        <p:spPr>
          <a:xfrm>
            <a:off x="1016000" y="5715000"/>
            <a:ext cx="9525000" cy="317500"/>
          </a:xfrm>
          <a:prstGeom prst="rect">
            <a:avLst/>
          </a:prstGeom>
          <a:noFill/>
          <a:ln/>
        </p:spPr>
        <p:txBody>
          <a:bodyPr wrap="square" lIns="0" tIns="0" rIns="0" bIns="0" rtlCol="0" anchor="t"/>
          <a:lstStyle/>
          <a:p>
            <a:pPr indent="0" marL="0">
              <a:buNone/>
            </a:pPr>
            <a:r>
              <a:rPr lang="en-US" sz="1600" i="1" dirty="0">
                <a:solidFill>
                  <a:srgbClr val="666666"/>
                </a:solidFill>
                <a:latin typeface="Arial" pitchFamily="34" charset="0"/>
                <a:ea typeface="Arial" pitchFamily="34" charset="-122"/>
                <a:cs typeface="Arial" pitchFamily="34" charset="-120"/>
              </a:rPr>
              <a:t>No AI model makes a clinical decision.</a:t>
            </a:r>
            <a:endParaRPr lang="en-US" sz="16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04 · INNOVATION &amp; UNIQUE VALUE PROPOSITION</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Unknown is never treated as safe</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04</a:t>
            </a:r>
            <a:endParaRPr lang="en-US" sz="5500" dirty="0"/>
          </a:p>
        </p:txBody>
      </p:sp>
      <p:sp>
        <p:nvSpPr>
          <p:cNvPr id="5" name="Shape 3"/>
          <p:cNvSpPr/>
          <p:nvPr/>
        </p:nvSpPr>
        <p:spPr>
          <a:xfrm>
            <a:off x="1016000" y="2286000"/>
            <a:ext cx="2159000" cy="508000"/>
          </a:xfrm>
          <a:prstGeom prst="rect">
            <a:avLst/>
          </a:prstGeom>
          <a:ln w="31750">
            <a:solidFill>
              <a:srgbClr val="1F7A3A"/>
            </a:solidFill>
            <a:prstDash val="solid"/>
          </a:ln>
        </p:spPr>
      </p:sp>
      <p:sp>
        <p:nvSpPr>
          <p:cNvPr id="6" name="Text 4"/>
          <p:cNvSpPr txBox="1"/>
          <p:nvPr/>
        </p:nvSpPr>
        <p:spPr>
          <a:xfrm>
            <a:off x="1016000" y="2286000"/>
            <a:ext cx="2159000" cy="508000"/>
          </a:xfrm>
          <a:prstGeom prst="rect">
            <a:avLst/>
          </a:prstGeom>
          <a:noFill/>
          <a:ln/>
        </p:spPr>
        <p:txBody>
          <a:bodyPr wrap="square" lIns="0" tIns="0" rIns="0" bIns="0" rtlCol="0" anchor="ctr"/>
          <a:lstStyle/>
          <a:p>
            <a:pPr algn="ctr" indent="0" marL="0">
              <a:buNone/>
            </a:pPr>
            <a:r>
              <a:rPr lang="en-US" sz="1600" b="1" dirty="0">
                <a:solidFill>
                  <a:srgbClr val="1F7A3A"/>
                </a:solidFill>
                <a:latin typeface="Courier New" pitchFamily="34" charset="0"/>
                <a:ea typeface="Courier New" pitchFamily="34" charset="-122"/>
                <a:cs typeface="Courier New" pitchFamily="34" charset="-120"/>
              </a:rPr>
              <a:t>PASS</a:t>
            </a:r>
            <a:endParaRPr lang="en-US" sz="1600" dirty="0"/>
          </a:p>
        </p:txBody>
      </p:sp>
      <p:sp>
        <p:nvSpPr>
          <p:cNvPr id="7" name="Text 5"/>
          <p:cNvSpPr txBox="1"/>
          <p:nvPr/>
        </p:nvSpPr>
        <p:spPr>
          <a:xfrm>
            <a:off x="3365500" y="2286000"/>
            <a:ext cx="3556000" cy="508000"/>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checked, nothing to flag</a:t>
            </a:r>
            <a:endParaRPr lang="en-US" sz="1800" dirty="0"/>
          </a:p>
        </p:txBody>
      </p:sp>
      <p:sp>
        <p:nvSpPr>
          <p:cNvPr id="8" name="Shape 6"/>
          <p:cNvSpPr/>
          <p:nvPr/>
        </p:nvSpPr>
        <p:spPr>
          <a:xfrm>
            <a:off x="1016000" y="3048000"/>
            <a:ext cx="2159000" cy="508000"/>
          </a:xfrm>
          <a:prstGeom prst="rect">
            <a:avLst/>
          </a:prstGeom>
          <a:solidFill>
            <a:srgbClr val="E63312"/>
          </a:solidFill>
          <a:ln w="31750">
            <a:solidFill>
              <a:srgbClr val="E63312"/>
            </a:solidFill>
            <a:prstDash val="solid"/>
          </a:ln>
        </p:spPr>
      </p:sp>
      <p:sp>
        <p:nvSpPr>
          <p:cNvPr id="9" name="Text 7"/>
          <p:cNvSpPr txBox="1"/>
          <p:nvPr/>
        </p:nvSpPr>
        <p:spPr>
          <a:xfrm>
            <a:off x="1016000" y="3048000"/>
            <a:ext cx="2159000" cy="50800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FLAG</a:t>
            </a:r>
            <a:endParaRPr lang="en-US" sz="1600" dirty="0"/>
          </a:p>
        </p:txBody>
      </p:sp>
      <p:sp>
        <p:nvSpPr>
          <p:cNvPr id="10" name="Text 8"/>
          <p:cNvSpPr txBox="1"/>
          <p:nvPr/>
        </p:nvSpPr>
        <p:spPr>
          <a:xfrm>
            <a:off x="3365500" y="3048000"/>
            <a:ext cx="3556000" cy="508000"/>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pharmacist should review</a:t>
            </a:r>
            <a:endParaRPr lang="en-US" sz="1800" dirty="0"/>
          </a:p>
        </p:txBody>
      </p:sp>
      <p:sp>
        <p:nvSpPr>
          <p:cNvPr id="11" name="Shape 9"/>
          <p:cNvSpPr/>
          <p:nvPr/>
        </p:nvSpPr>
        <p:spPr>
          <a:xfrm>
            <a:off x="1016000" y="3810000"/>
            <a:ext cx="2159000" cy="508000"/>
          </a:xfrm>
          <a:prstGeom prst="rect">
            <a:avLst/>
          </a:prstGeom>
          <a:ln w="31750">
            <a:solidFill>
              <a:srgbClr val="1D4ED8"/>
            </a:solidFill>
            <a:prstDash val="solid"/>
          </a:ln>
        </p:spPr>
      </p:sp>
      <p:sp>
        <p:nvSpPr>
          <p:cNvPr id="12" name="Text 10"/>
          <p:cNvSpPr txBox="1"/>
          <p:nvPr/>
        </p:nvSpPr>
        <p:spPr>
          <a:xfrm>
            <a:off x="1016000" y="3810000"/>
            <a:ext cx="2159000" cy="508000"/>
          </a:xfrm>
          <a:prstGeom prst="rect">
            <a:avLst/>
          </a:prstGeom>
          <a:noFill/>
          <a:ln/>
        </p:spPr>
        <p:txBody>
          <a:bodyPr wrap="square" lIns="0" tIns="0" rIns="0" bIns="0" rtlCol="0" anchor="ctr"/>
          <a:lstStyle/>
          <a:p>
            <a:pPr algn="ctr" indent="0" marL="0">
              <a:buNone/>
            </a:pPr>
            <a:r>
              <a:rPr lang="en-US" sz="1600" b="1" dirty="0">
                <a:solidFill>
                  <a:srgbClr val="1D4ED8"/>
                </a:solidFill>
                <a:latin typeface="Courier New" pitchFamily="34" charset="0"/>
                <a:ea typeface="Courier New" pitchFamily="34" charset="-122"/>
                <a:cs typeface="Courier New" pitchFamily="34" charset="-120"/>
              </a:rPr>
              <a:t>CANNOT_ASSESS</a:t>
            </a:r>
            <a:endParaRPr lang="en-US" sz="1600" dirty="0"/>
          </a:p>
        </p:txBody>
      </p:sp>
      <p:sp>
        <p:nvSpPr>
          <p:cNvPr id="13" name="Text 11"/>
          <p:cNvSpPr txBox="1"/>
          <p:nvPr/>
        </p:nvSpPr>
        <p:spPr>
          <a:xfrm>
            <a:off x="3365500" y="3810000"/>
            <a:ext cx="3556000" cy="508000"/>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data missing, and we name it</a:t>
            </a:r>
            <a:endParaRPr lang="en-US" sz="1800" dirty="0"/>
          </a:p>
        </p:txBody>
      </p:sp>
      <p:sp>
        <p:nvSpPr>
          <p:cNvPr id="14" name="Text 12"/>
          <p:cNvSpPr txBox="1"/>
          <p:nvPr/>
        </p:nvSpPr>
        <p:spPr>
          <a:xfrm>
            <a:off x="1016000" y="5016500"/>
            <a:ext cx="5842000" cy="698500"/>
          </a:xfrm>
          <a:prstGeom prst="rect">
            <a:avLst/>
          </a:prstGeom>
          <a:noFill/>
          <a:ln/>
        </p:spPr>
        <p:txBody>
          <a:bodyPr wrap="square" lIns="0" tIns="0" rIns="0" bIns="0" rtlCol="0" anchor="t"/>
          <a:lstStyle/>
          <a:p>
            <a:pPr indent="0" marL="0">
              <a:buNone/>
            </a:pPr>
            <a:r>
              <a:rPr lang="en-US" sz="1700" dirty="0">
                <a:solidFill>
                  <a:srgbClr val="111111"/>
                </a:solidFill>
                <a:latin typeface="Arial Black" pitchFamily="34" charset="0"/>
                <a:ea typeface="Arial Black" pitchFamily="34" charset="-122"/>
                <a:cs typeface="Arial Black" pitchFamily="34" charset="-120"/>
              </a:rPr>
              <a:t>Missing data is never a silent pass, and it cannot simply be approved.</a:t>
            </a:r>
            <a:endParaRPr lang="en-US" sz="1700" dirty="0"/>
          </a:p>
        </p:txBody>
      </p:sp>
      <p:sp>
        <p:nvSpPr>
          <p:cNvPr id="15" name="Text 13"/>
          <p:cNvSpPr txBox="1"/>
          <p:nvPr/>
        </p:nvSpPr>
        <p:spPr>
          <a:xfrm>
            <a:off x="7620000" y="2286000"/>
            <a:ext cx="3810000" cy="406400"/>
          </a:xfrm>
          <a:prstGeom prst="rect">
            <a:avLst/>
          </a:prstGeom>
          <a:noFill/>
          <a:ln/>
        </p:spPr>
        <p:txBody>
          <a:bodyPr wrap="square" lIns="0" tIns="0" rIns="0" bIns="0" rtlCol="0" anchor="t"/>
          <a:lstStyle/>
          <a:p>
            <a:pPr indent="0" marL="0">
              <a:buNone/>
            </a:pPr>
            <a:r>
              <a:rPr lang="en-US" sz="2000" dirty="0">
                <a:solidFill>
                  <a:srgbClr val="111111"/>
                </a:solidFill>
                <a:latin typeface="Arial Black" pitchFamily="34" charset="0"/>
                <a:ea typeface="Arial Black" pitchFamily="34" charset="-122"/>
                <a:cs typeface="Arial Black" pitchFamily="34" charset="-120"/>
              </a:rPr>
              <a:t>Cites every result</a:t>
            </a:r>
            <a:endParaRPr lang="en-US" sz="2000" dirty="0"/>
          </a:p>
        </p:txBody>
      </p:sp>
      <p:sp>
        <p:nvSpPr>
          <p:cNvPr id="16" name="Text 14"/>
          <p:cNvSpPr txBox="1"/>
          <p:nvPr/>
        </p:nvSpPr>
        <p:spPr>
          <a:xfrm>
            <a:off x="7620000" y="2705100"/>
            <a:ext cx="3556000" cy="279400"/>
          </a:xfrm>
          <a:prstGeom prst="rect">
            <a:avLst/>
          </a:prstGeom>
          <a:noFill/>
          <a:ln/>
        </p:spPr>
        <p:txBody>
          <a:bodyPr wrap="square" lIns="0" tIns="0" rIns="0" bIns="0" rtlCol="0" anchor="t"/>
          <a:lstStyle/>
          <a:p>
            <a:pPr indent="0" marL="0">
              <a:buNone/>
            </a:pPr>
            <a:r>
              <a:rPr lang="en-US" sz="1500" dirty="0">
                <a:solidFill>
                  <a:srgbClr val="666666"/>
                </a:solidFill>
                <a:latin typeface="Arial" pitchFamily="34" charset="0"/>
                <a:ea typeface="Arial" pitchFamily="34" charset="-122"/>
                <a:cs typeface="Arial" pitchFamily="34" charset="-120"/>
              </a:rPr>
              <a:t>guideline section and page</a:t>
            </a:r>
            <a:endParaRPr lang="en-US" sz="1500" dirty="0"/>
          </a:p>
        </p:txBody>
      </p:sp>
      <p:sp>
        <p:nvSpPr>
          <p:cNvPr id="17" name="Text 15"/>
          <p:cNvSpPr txBox="1"/>
          <p:nvPr/>
        </p:nvSpPr>
        <p:spPr>
          <a:xfrm>
            <a:off x="7620000" y="3238500"/>
            <a:ext cx="3810000" cy="406400"/>
          </a:xfrm>
          <a:prstGeom prst="rect">
            <a:avLst/>
          </a:prstGeom>
          <a:noFill/>
          <a:ln/>
        </p:spPr>
        <p:txBody>
          <a:bodyPr wrap="square" lIns="0" tIns="0" rIns="0" bIns="0" rtlCol="0" anchor="t"/>
          <a:lstStyle/>
          <a:p>
            <a:pPr indent="0" marL="0">
              <a:buNone/>
            </a:pPr>
            <a:r>
              <a:rPr lang="en-US" sz="2000" dirty="0">
                <a:solidFill>
                  <a:srgbClr val="111111"/>
                </a:solidFill>
                <a:latin typeface="Arial Black" pitchFamily="34" charset="0"/>
                <a:ea typeface="Arial Black" pitchFamily="34" charset="-122"/>
                <a:cs typeface="Arial Black" pitchFamily="34" charset="-120"/>
              </a:rPr>
              <a:t>Confirms the drug first</a:t>
            </a:r>
            <a:endParaRPr lang="en-US" sz="2000" dirty="0"/>
          </a:p>
        </p:txBody>
      </p:sp>
      <p:sp>
        <p:nvSpPr>
          <p:cNvPr id="18" name="Text 16"/>
          <p:cNvSpPr txBox="1"/>
          <p:nvPr/>
        </p:nvSpPr>
        <p:spPr>
          <a:xfrm>
            <a:off x="7620000" y="3657600"/>
            <a:ext cx="3556000" cy="279400"/>
          </a:xfrm>
          <a:prstGeom prst="rect">
            <a:avLst/>
          </a:prstGeom>
          <a:noFill/>
          <a:ln/>
        </p:spPr>
        <p:txBody>
          <a:bodyPr wrap="square" lIns="0" tIns="0" rIns="0" bIns="0" rtlCol="0" anchor="t"/>
          <a:lstStyle/>
          <a:p>
            <a:pPr indent="0" marL="0">
              <a:buNone/>
            </a:pPr>
            <a:r>
              <a:rPr lang="en-US" sz="1500" dirty="0">
                <a:solidFill>
                  <a:srgbClr val="666666"/>
                </a:solidFill>
                <a:latin typeface="Arial" pitchFamily="34" charset="0"/>
                <a:ea typeface="Arial" pitchFamily="34" charset="-122"/>
                <a:cs typeface="Arial" pitchFamily="34" charset="-120"/>
              </a:rPr>
              <a:t>no guessing a drug's name</a:t>
            </a:r>
            <a:endParaRPr lang="en-US" sz="1500" dirty="0"/>
          </a:p>
        </p:txBody>
      </p:sp>
      <p:sp>
        <p:nvSpPr>
          <p:cNvPr id="19" name="Text 17"/>
          <p:cNvSpPr txBox="1"/>
          <p:nvPr/>
        </p:nvSpPr>
        <p:spPr>
          <a:xfrm>
            <a:off x="7620000" y="4191000"/>
            <a:ext cx="3810000" cy="406400"/>
          </a:xfrm>
          <a:prstGeom prst="rect">
            <a:avLst/>
          </a:prstGeom>
          <a:noFill/>
          <a:ln/>
        </p:spPr>
        <p:txBody>
          <a:bodyPr wrap="square" lIns="0" tIns="0" rIns="0" bIns="0" rtlCol="0" anchor="t"/>
          <a:lstStyle/>
          <a:p>
            <a:pPr indent="0" marL="0">
              <a:buNone/>
            </a:pPr>
            <a:r>
              <a:rPr lang="en-US" sz="2000" dirty="0">
                <a:solidFill>
                  <a:srgbClr val="111111"/>
                </a:solidFill>
                <a:latin typeface="Arial Black" pitchFamily="34" charset="0"/>
                <a:ea typeface="Arial Black" pitchFamily="34" charset="-122"/>
                <a:cs typeface="Arial Black" pitchFamily="34" charset="-120"/>
              </a:rPr>
              <a:t>The AI only explains</a:t>
            </a:r>
            <a:endParaRPr lang="en-US" sz="2000" dirty="0"/>
          </a:p>
        </p:txBody>
      </p:sp>
      <p:sp>
        <p:nvSpPr>
          <p:cNvPr id="20" name="Text 18"/>
          <p:cNvSpPr txBox="1"/>
          <p:nvPr/>
        </p:nvSpPr>
        <p:spPr>
          <a:xfrm>
            <a:off x="7620000" y="4610100"/>
            <a:ext cx="3556000" cy="279400"/>
          </a:xfrm>
          <a:prstGeom prst="rect">
            <a:avLst/>
          </a:prstGeom>
          <a:noFill/>
          <a:ln/>
        </p:spPr>
        <p:txBody>
          <a:bodyPr wrap="square" lIns="0" tIns="0" rIns="0" bIns="0" rtlCol="0" anchor="t"/>
          <a:lstStyle/>
          <a:p>
            <a:pPr indent="0" marL="0">
              <a:buNone/>
            </a:pPr>
            <a:r>
              <a:rPr lang="en-US" sz="1500" dirty="0">
                <a:solidFill>
                  <a:srgbClr val="666666"/>
                </a:solidFill>
                <a:latin typeface="Arial" pitchFamily="34" charset="0"/>
                <a:ea typeface="Arial" pitchFamily="34" charset="-122"/>
                <a:cs typeface="Arial" pitchFamily="34" charset="-120"/>
              </a:rPr>
              <a:t>and its text is checked</a:t>
            </a:r>
            <a:endParaRPr lang="en-US" sz="1500" dirty="0"/>
          </a:p>
        </p:txBody>
      </p:sp>
      <p:sp>
        <p:nvSpPr>
          <p:cNvPr id="21" name="Text 19"/>
          <p:cNvSpPr txBox="1"/>
          <p:nvPr/>
        </p:nvSpPr>
        <p:spPr>
          <a:xfrm>
            <a:off x="1016000" y="5873750"/>
            <a:ext cx="10160000" cy="355600"/>
          </a:xfrm>
          <a:prstGeom prst="rect">
            <a:avLst/>
          </a:prstGeom>
          <a:noFill/>
          <a:ln/>
        </p:spPr>
        <p:txBody>
          <a:bodyPr wrap="square" lIns="0" tIns="0" rIns="0" bIns="0" rtlCol="0" anchor="ctr"/>
          <a:lstStyle/>
          <a:p>
            <a:pPr indent="0" marL="0">
              <a:buNone/>
            </a:pPr>
            <a:r>
              <a:rPr lang="en-US" sz="1700" dirty="0">
                <a:solidFill>
                  <a:srgbClr val="E63312"/>
                </a:solidFill>
                <a:latin typeface="Arial Black" pitchFamily="34" charset="0"/>
                <a:ea typeface="Arial Black" pitchFamily="34" charset="-122"/>
                <a:cs typeface="Arial Black" pitchFamily="34" charset="-120"/>
              </a:rPr>
              <a:t>USP  </a:t>
            </a:r>
            <a:pPr indent="0" marL="0">
              <a:buNone/>
            </a:pPr>
            <a:r>
              <a:rPr lang="en-US" sz="1700" dirty="0">
                <a:solidFill>
                  <a:srgbClr val="111111"/>
                </a:solidFill>
                <a:latin typeface="Arial Black" pitchFamily="34" charset="0"/>
                <a:ea typeface="Arial Black" pitchFamily="34" charset="-122"/>
                <a:cs typeface="Arial Black" pitchFamily="34" charset="-120"/>
              </a:rPr>
              <a:t>Honest, cited checks. The pharmacist signs every plan.</a:t>
            </a:r>
            <a:endParaRPr lang="en-US" sz="17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05 · HOW THE SOLUTION WORKS</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Six steps, two of them automatic</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05</a:t>
            </a:r>
            <a:endParaRPr lang="en-US" sz="5500" dirty="0"/>
          </a:p>
        </p:txBody>
      </p:sp>
      <p:sp>
        <p:nvSpPr>
          <p:cNvPr id="5" name="Shape 3"/>
          <p:cNvSpPr/>
          <p:nvPr/>
        </p:nvSpPr>
        <p:spPr>
          <a:xfrm>
            <a:off x="1333500" y="2908300"/>
            <a:ext cx="8466667" cy="0"/>
          </a:xfrm>
          <a:prstGeom prst="line">
            <a:avLst/>
          </a:prstGeom>
          <a:noFill/>
          <a:ln w="57150">
            <a:solidFill>
              <a:srgbClr val="111111"/>
            </a:solidFill>
            <a:prstDash val="solid"/>
          </a:ln>
        </p:spPr>
      </p:sp>
      <p:sp>
        <p:nvSpPr>
          <p:cNvPr id="6" name="Text 4"/>
          <p:cNvSpPr txBox="1"/>
          <p:nvPr/>
        </p:nvSpPr>
        <p:spPr>
          <a:xfrm>
            <a:off x="1016000" y="2286000"/>
            <a:ext cx="1629833" cy="215900"/>
          </a:xfrm>
          <a:prstGeom prst="rect">
            <a:avLst/>
          </a:prstGeom>
          <a:noFill/>
          <a:ln/>
        </p:spPr>
        <p:txBody>
          <a:bodyPr wrap="square" lIns="0" tIns="0" rIns="0" bIns="0" rtlCol="0" anchor="t"/>
          <a:lstStyle/>
          <a:p>
            <a:pPr indent="0" marL="0">
              <a:buNone/>
            </a:pPr>
            <a:r>
              <a:rPr lang="en-US" sz="950" b="1" spc="200" kern="0" dirty="0">
                <a:solidFill>
                  <a:srgbClr val="666666"/>
                </a:solidFill>
                <a:latin typeface="Arial" pitchFamily="34" charset="0"/>
                <a:ea typeface="Arial" pitchFamily="34" charset="-122"/>
                <a:cs typeface="Arial" pitchFamily="34" charset="-120"/>
              </a:rPr>
              <a:t>INPUT</a:t>
            </a:r>
            <a:endParaRPr lang="en-US" sz="950" dirty="0"/>
          </a:p>
        </p:txBody>
      </p:sp>
      <p:sp>
        <p:nvSpPr>
          <p:cNvPr id="7" name="Shape 5"/>
          <p:cNvSpPr/>
          <p:nvPr/>
        </p:nvSpPr>
        <p:spPr>
          <a:xfrm>
            <a:off x="1016000" y="2590800"/>
            <a:ext cx="635000" cy="635000"/>
          </a:xfrm>
          <a:prstGeom prst="ellipse">
            <a:avLst/>
          </a:prstGeom>
          <a:solidFill>
            <a:srgbClr val="111111"/>
          </a:solidFill>
          <a:ln w="76200">
            <a:solidFill>
              <a:srgbClr val="FFFFFF"/>
            </a:solidFill>
            <a:prstDash val="solid"/>
          </a:ln>
        </p:spPr>
      </p:sp>
      <p:sp>
        <p:nvSpPr>
          <p:cNvPr id="8" name="Text 6"/>
          <p:cNvSpPr txBox="1"/>
          <p:nvPr/>
        </p:nvSpPr>
        <p:spPr>
          <a:xfrm>
            <a:off x="1016000" y="2590800"/>
            <a:ext cx="635000" cy="635000"/>
          </a:xfrm>
          <a:prstGeom prst="rect">
            <a:avLst/>
          </a:prstGeom>
          <a:noFill/>
          <a:ln/>
        </p:spPr>
        <p:txBody>
          <a:bodyPr wrap="square" lIns="0" tIns="0" rIns="0" bIns="0" rtlCol="0" anchor="ctr"/>
          <a:lstStyle/>
          <a:p>
            <a:pPr algn="ctr" indent="0" marL="0">
              <a:buNone/>
            </a:pPr>
            <a:r>
              <a:rPr lang="en-US" sz="2300" dirty="0">
                <a:solidFill>
                  <a:srgbClr val="FFFFFF"/>
                </a:solidFill>
                <a:latin typeface="Arial Black" pitchFamily="34" charset="0"/>
                <a:ea typeface="Arial Black" pitchFamily="34" charset="-122"/>
                <a:cs typeface="Arial Black" pitchFamily="34" charset="-120"/>
              </a:rPr>
              <a:t>1</a:t>
            </a:r>
            <a:endParaRPr lang="en-US" sz="2300" dirty="0"/>
          </a:p>
        </p:txBody>
      </p:sp>
      <p:sp>
        <p:nvSpPr>
          <p:cNvPr id="9" name="Text 7"/>
          <p:cNvSpPr txBox="1"/>
          <p:nvPr/>
        </p:nvSpPr>
        <p:spPr>
          <a:xfrm>
            <a:off x="1016000" y="3365500"/>
            <a:ext cx="1617133" cy="698500"/>
          </a:xfrm>
          <a:prstGeom prst="rect">
            <a:avLst/>
          </a:prstGeom>
          <a:noFill/>
          <a:ln/>
        </p:spPr>
        <p:txBody>
          <a:bodyPr wrap="square" lIns="0" tIns="0" rIns="0" bIns="0" rtlCol="0" anchor="t"/>
          <a:lstStyle/>
          <a:p>
            <a:pPr indent="0" marL="0">
              <a:lnSpc>
                <a:spcPct val="100000"/>
              </a:lnSpc>
              <a:buNone/>
            </a:pPr>
            <a:r>
              <a:rPr lang="en-US" sz="1550" dirty="0">
                <a:solidFill>
                  <a:srgbClr val="111111"/>
                </a:solidFill>
                <a:latin typeface="Arial Black" pitchFamily="34" charset="0"/>
                <a:ea typeface="Arial Black" pitchFamily="34" charset="-122"/>
                <a:cs typeface="Arial Black" pitchFamily="34" charset="-120"/>
              </a:rPr>
              <a:t>Enter prescription</a:t>
            </a:r>
            <a:endParaRPr lang="en-US" sz="1550" dirty="0"/>
          </a:p>
        </p:txBody>
      </p:sp>
      <p:sp>
        <p:nvSpPr>
          <p:cNvPr id="10" name="Text 8"/>
          <p:cNvSpPr txBox="1"/>
          <p:nvPr/>
        </p:nvSpPr>
        <p:spPr>
          <a:xfrm>
            <a:off x="1016000" y="4127500"/>
            <a:ext cx="1566333" cy="254000"/>
          </a:xfrm>
          <a:prstGeom prst="rect">
            <a:avLst/>
          </a:prstGeom>
          <a:noFill/>
          <a:ln/>
        </p:spPr>
        <p:txBody>
          <a:bodyPr wrap="square" lIns="0" tIns="0" rIns="0" bIns="0" rtlCol="0" anchor="t"/>
          <a:lstStyle/>
          <a:p>
            <a:pPr indent="0" marL="0">
              <a:buNone/>
            </a:pPr>
            <a:r>
              <a:rPr lang="en-US" sz="1300" b="1" dirty="0">
                <a:solidFill>
                  <a:srgbClr val="666666"/>
                </a:solidFill>
                <a:latin typeface="Arial" pitchFamily="34" charset="0"/>
                <a:ea typeface="Arial" pitchFamily="34" charset="-122"/>
                <a:cs typeface="Arial" pitchFamily="34" charset="-120"/>
              </a:rPr>
              <a:t>Pharmacist</a:t>
            </a:r>
            <a:endParaRPr lang="en-US" sz="1300" dirty="0"/>
          </a:p>
        </p:txBody>
      </p:sp>
      <p:sp>
        <p:nvSpPr>
          <p:cNvPr id="11" name="Text 9"/>
          <p:cNvSpPr txBox="1"/>
          <p:nvPr/>
        </p:nvSpPr>
        <p:spPr>
          <a:xfrm>
            <a:off x="2709333" y="2286000"/>
            <a:ext cx="1629833" cy="215900"/>
          </a:xfrm>
          <a:prstGeom prst="rect">
            <a:avLst/>
          </a:prstGeom>
          <a:noFill/>
          <a:ln/>
        </p:spPr>
        <p:txBody>
          <a:bodyPr wrap="square" lIns="0" tIns="0" rIns="0" bIns="0" rtlCol="0" anchor="t"/>
          <a:lstStyle/>
          <a:p>
            <a:pPr indent="0" marL="0">
              <a:buNone/>
            </a:pPr>
            <a:r>
              <a:rPr lang="en-US" sz="950" b="1" spc="200" kern="0" dirty="0">
                <a:solidFill>
                  <a:srgbClr val="666666"/>
                </a:solidFill>
                <a:latin typeface="Arial" pitchFamily="34" charset="0"/>
                <a:ea typeface="Arial" pitchFamily="34" charset="-122"/>
                <a:cs typeface="Arial" pitchFamily="34" charset="-120"/>
              </a:rPr>
              <a:t>PROCESSING</a:t>
            </a:r>
            <a:endParaRPr lang="en-US" sz="950" dirty="0"/>
          </a:p>
        </p:txBody>
      </p:sp>
      <p:sp>
        <p:nvSpPr>
          <p:cNvPr id="12" name="Shape 10"/>
          <p:cNvSpPr/>
          <p:nvPr/>
        </p:nvSpPr>
        <p:spPr>
          <a:xfrm>
            <a:off x="2709333" y="2590800"/>
            <a:ext cx="635000" cy="635000"/>
          </a:xfrm>
          <a:prstGeom prst="ellipse">
            <a:avLst/>
          </a:prstGeom>
          <a:solidFill>
            <a:srgbClr val="E63312"/>
          </a:solidFill>
          <a:ln w="76200">
            <a:solidFill>
              <a:srgbClr val="FFFFFF"/>
            </a:solidFill>
            <a:prstDash val="solid"/>
          </a:ln>
        </p:spPr>
      </p:sp>
      <p:sp>
        <p:nvSpPr>
          <p:cNvPr id="13" name="Text 11"/>
          <p:cNvSpPr txBox="1"/>
          <p:nvPr/>
        </p:nvSpPr>
        <p:spPr>
          <a:xfrm>
            <a:off x="2709333" y="2590800"/>
            <a:ext cx="635000" cy="635000"/>
          </a:xfrm>
          <a:prstGeom prst="rect">
            <a:avLst/>
          </a:prstGeom>
          <a:noFill/>
          <a:ln/>
        </p:spPr>
        <p:txBody>
          <a:bodyPr wrap="square" lIns="0" tIns="0" rIns="0" bIns="0" rtlCol="0" anchor="ctr"/>
          <a:lstStyle/>
          <a:p>
            <a:pPr algn="ctr" indent="0" marL="0">
              <a:buNone/>
            </a:pPr>
            <a:r>
              <a:rPr lang="en-US" sz="2300" dirty="0">
                <a:solidFill>
                  <a:srgbClr val="FFFFFF"/>
                </a:solidFill>
                <a:latin typeface="Arial Black" pitchFamily="34" charset="0"/>
                <a:ea typeface="Arial Black" pitchFamily="34" charset="-122"/>
                <a:cs typeface="Arial Black" pitchFamily="34" charset="-120"/>
              </a:rPr>
              <a:t>2</a:t>
            </a:r>
            <a:endParaRPr lang="en-US" sz="2300" dirty="0"/>
          </a:p>
        </p:txBody>
      </p:sp>
      <p:sp>
        <p:nvSpPr>
          <p:cNvPr id="14" name="Text 12"/>
          <p:cNvSpPr txBox="1"/>
          <p:nvPr/>
        </p:nvSpPr>
        <p:spPr>
          <a:xfrm>
            <a:off x="2709333" y="3365500"/>
            <a:ext cx="1617133" cy="698500"/>
          </a:xfrm>
          <a:prstGeom prst="rect">
            <a:avLst/>
          </a:prstGeom>
          <a:noFill/>
          <a:ln/>
        </p:spPr>
        <p:txBody>
          <a:bodyPr wrap="square" lIns="0" tIns="0" rIns="0" bIns="0" rtlCol="0" anchor="t"/>
          <a:lstStyle/>
          <a:p>
            <a:pPr indent="0" marL="0">
              <a:lnSpc>
                <a:spcPct val="100000"/>
              </a:lnSpc>
              <a:buNone/>
            </a:pPr>
            <a:r>
              <a:rPr lang="en-US" sz="1550" dirty="0">
                <a:solidFill>
                  <a:srgbClr val="111111"/>
                </a:solidFill>
                <a:latin typeface="Arial Black" pitchFamily="34" charset="0"/>
                <a:ea typeface="Arial Black" pitchFamily="34" charset="-122"/>
                <a:cs typeface="Arial Black" pitchFamily="34" charset="-120"/>
              </a:rPr>
              <a:t>Verify drugs</a:t>
            </a:r>
            <a:endParaRPr lang="en-US" sz="1550" dirty="0"/>
          </a:p>
        </p:txBody>
      </p:sp>
      <p:sp>
        <p:nvSpPr>
          <p:cNvPr id="15" name="Text 13"/>
          <p:cNvSpPr txBox="1"/>
          <p:nvPr/>
        </p:nvSpPr>
        <p:spPr>
          <a:xfrm>
            <a:off x="2709333" y="4127500"/>
            <a:ext cx="1566333" cy="254000"/>
          </a:xfrm>
          <a:prstGeom prst="rect">
            <a:avLst/>
          </a:prstGeom>
          <a:noFill/>
          <a:ln/>
        </p:spPr>
        <p:txBody>
          <a:bodyPr wrap="square" lIns="0" tIns="0" rIns="0" bIns="0" rtlCol="0" anchor="t"/>
          <a:lstStyle/>
          <a:p>
            <a:pPr indent="0" marL="0">
              <a:buNone/>
            </a:pPr>
            <a:r>
              <a:rPr lang="en-US" sz="1300" b="1" dirty="0">
                <a:solidFill>
                  <a:srgbClr val="E63312"/>
                </a:solidFill>
                <a:latin typeface="Arial" pitchFamily="34" charset="0"/>
                <a:ea typeface="Arial" pitchFamily="34" charset="-122"/>
                <a:cs typeface="Arial" pitchFamily="34" charset="-120"/>
              </a:rPr>
              <a:t>System</a:t>
            </a:r>
            <a:endParaRPr lang="en-US" sz="1300" dirty="0"/>
          </a:p>
        </p:txBody>
      </p:sp>
      <p:sp>
        <p:nvSpPr>
          <p:cNvPr id="16" name="Text 14"/>
          <p:cNvSpPr txBox="1"/>
          <p:nvPr/>
        </p:nvSpPr>
        <p:spPr>
          <a:xfrm>
            <a:off x="4402667" y="2286000"/>
            <a:ext cx="1629833" cy="215900"/>
          </a:xfrm>
          <a:prstGeom prst="rect">
            <a:avLst/>
          </a:prstGeom>
          <a:noFill/>
          <a:ln/>
        </p:spPr>
        <p:txBody>
          <a:bodyPr wrap="square" lIns="0" tIns="0" rIns="0" bIns="0" rtlCol="0" anchor="t"/>
          <a:lstStyle/>
          <a:p>
            <a:pPr indent="0" marL="0">
              <a:buNone/>
            </a:pPr>
            <a:r>
              <a:rPr lang="en-US" sz="950" b="1" spc="200" kern="0" dirty="0">
                <a:solidFill>
                  <a:srgbClr val="666666"/>
                </a:solidFill>
                <a:latin typeface="Arial" pitchFamily="34" charset="0"/>
                <a:ea typeface="Arial" pitchFamily="34" charset="-122"/>
                <a:cs typeface="Arial" pitchFamily="34" charset="-120"/>
              </a:rPr>
              <a:t>DATABASE / API</a:t>
            </a:r>
            <a:endParaRPr lang="en-US" sz="950" dirty="0"/>
          </a:p>
        </p:txBody>
      </p:sp>
      <p:sp>
        <p:nvSpPr>
          <p:cNvPr id="17" name="Shape 15"/>
          <p:cNvSpPr/>
          <p:nvPr/>
        </p:nvSpPr>
        <p:spPr>
          <a:xfrm>
            <a:off x="4402667" y="2590800"/>
            <a:ext cx="635000" cy="635000"/>
          </a:xfrm>
          <a:prstGeom prst="ellipse">
            <a:avLst/>
          </a:prstGeom>
          <a:solidFill>
            <a:srgbClr val="111111"/>
          </a:solidFill>
          <a:ln w="76200">
            <a:solidFill>
              <a:srgbClr val="FFFFFF"/>
            </a:solidFill>
            <a:prstDash val="solid"/>
          </a:ln>
        </p:spPr>
      </p:sp>
      <p:sp>
        <p:nvSpPr>
          <p:cNvPr id="18" name="Text 16"/>
          <p:cNvSpPr txBox="1"/>
          <p:nvPr/>
        </p:nvSpPr>
        <p:spPr>
          <a:xfrm>
            <a:off x="4402667" y="2590800"/>
            <a:ext cx="635000" cy="635000"/>
          </a:xfrm>
          <a:prstGeom prst="rect">
            <a:avLst/>
          </a:prstGeom>
          <a:noFill/>
          <a:ln/>
        </p:spPr>
        <p:txBody>
          <a:bodyPr wrap="square" lIns="0" tIns="0" rIns="0" bIns="0" rtlCol="0" anchor="ctr"/>
          <a:lstStyle/>
          <a:p>
            <a:pPr algn="ctr" indent="0" marL="0">
              <a:buNone/>
            </a:pPr>
            <a:r>
              <a:rPr lang="en-US" sz="2300" dirty="0">
                <a:solidFill>
                  <a:srgbClr val="FFFFFF"/>
                </a:solidFill>
                <a:latin typeface="Arial Black" pitchFamily="34" charset="0"/>
                <a:ea typeface="Arial Black" pitchFamily="34" charset="-122"/>
                <a:cs typeface="Arial Black" pitchFamily="34" charset="-120"/>
              </a:rPr>
              <a:t>3</a:t>
            </a:r>
            <a:endParaRPr lang="en-US" sz="2300" dirty="0"/>
          </a:p>
        </p:txBody>
      </p:sp>
      <p:sp>
        <p:nvSpPr>
          <p:cNvPr id="19" name="Text 17"/>
          <p:cNvSpPr txBox="1"/>
          <p:nvPr/>
        </p:nvSpPr>
        <p:spPr>
          <a:xfrm>
            <a:off x="4402667" y="3365500"/>
            <a:ext cx="1617133" cy="698500"/>
          </a:xfrm>
          <a:prstGeom prst="rect">
            <a:avLst/>
          </a:prstGeom>
          <a:noFill/>
          <a:ln/>
        </p:spPr>
        <p:txBody>
          <a:bodyPr wrap="square" lIns="0" tIns="0" rIns="0" bIns="0" rtlCol="0" anchor="t"/>
          <a:lstStyle/>
          <a:p>
            <a:pPr indent="0" marL="0">
              <a:lnSpc>
                <a:spcPct val="100000"/>
              </a:lnSpc>
              <a:buNone/>
            </a:pPr>
            <a:r>
              <a:rPr lang="en-US" sz="1550" dirty="0">
                <a:solidFill>
                  <a:srgbClr val="111111"/>
                </a:solidFill>
                <a:latin typeface="Arial Black" pitchFamily="34" charset="0"/>
                <a:ea typeface="Arial Black" pitchFamily="34" charset="-122"/>
                <a:cs typeface="Arial Black" pitchFamily="34" charset="-120"/>
              </a:rPr>
              <a:t>Add patient &amp; culture</a:t>
            </a:r>
            <a:endParaRPr lang="en-US" sz="1550" dirty="0"/>
          </a:p>
        </p:txBody>
      </p:sp>
      <p:sp>
        <p:nvSpPr>
          <p:cNvPr id="20" name="Text 18"/>
          <p:cNvSpPr txBox="1"/>
          <p:nvPr/>
        </p:nvSpPr>
        <p:spPr>
          <a:xfrm>
            <a:off x="4402667" y="4127500"/>
            <a:ext cx="1566333" cy="254000"/>
          </a:xfrm>
          <a:prstGeom prst="rect">
            <a:avLst/>
          </a:prstGeom>
          <a:noFill/>
          <a:ln/>
        </p:spPr>
        <p:txBody>
          <a:bodyPr wrap="square" lIns="0" tIns="0" rIns="0" bIns="0" rtlCol="0" anchor="t"/>
          <a:lstStyle/>
          <a:p>
            <a:pPr indent="0" marL="0">
              <a:buNone/>
            </a:pPr>
            <a:r>
              <a:rPr lang="en-US" sz="1300" b="1" dirty="0">
                <a:solidFill>
                  <a:srgbClr val="666666"/>
                </a:solidFill>
                <a:latin typeface="Arial" pitchFamily="34" charset="0"/>
                <a:ea typeface="Arial" pitchFamily="34" charset="-122"/>
                <a:cs typeface="Arial" pitchFamily="34" charset="-120"/>
              </a:rPr>
              <a:t>Pharmacist</a:t>
            </a:r>
            <a:endParaRPr lang="en-US" sz="1300" dirty="0"/>
          </a:p>
        </p:txBody>
      </p:sp>
      <p:sp>
        <p:nvSpPr>
          <p:cNvPr id="21" name="Text 19"/>
          <p:cNvSpPr txBox="1"/>
          <p:nvPr/>
        </p:nvSpPr>
        <p:spPr>
          <a:xfrm>
            <a:off x="6096000" y="2286000"/>
            <a:ext cx="1629833" cy="215900"/>
          </a:xfrm>
          <a:prstGeom prst="rect">
            <a:avLst/>
          </a:prstGeom>
          <a:noFill/>
          <a:ln/>
        </p:spPr>
        <p:txBody>
          <a:bodyPr wrap="square" lIns="0" tIns="0" rIns="0" bIns="0" rtlCol="0" anchor="t"/>
          <a:lstStyle/>
          <a:p>
            <a:pPr indent="0" marL="0">
              <a:buNone/>
            </a:pPr>
            <a:r>
              <a:rPr lang="en-US" sz="950" b="1" spc="200" kern="0" dirty="0">
                <a:solidFill>
                  <a:srgbClr val="666666"/>
                </a:solidFill>
                <a:latin typeface="Arial" pitchFamily="34" charset="0"/>
                <a:ea typeface="Arial" pitchFamily="34" charset="-122"/>
                <a:cs typeface="Arial" pitchFamily="34" charset="-120"/>
              </a:rPr>
              <a:t>LOGIC (+ AI)</a:t>
            </a:r>
            <a:endParaRPr lang="en-US" sz="950" dirty="0"/>
          </a:p>
        </p:txBody>
      </p:sp>
      <p:sp>
        <p:nvSpPr>
          <p:cNvPr id="22" name="Shape 20"/>
          <p:cNvSpPr/>
          <p:nvPr/>
        </p:nvSpPr>
        <p:spPr>
          <a:xfrm>
            <a:off x="6096000" y="2590800"/>
            <a:ext cx="635000" cy="635000"/>
          </a:xfrm>
          <a:prstGeom prst="ellipse">
            <a:avLst/>
          </a:prstGeom>
          <a:solidFill>
            <a:srgbClr val="E63312"/>
          </a:solidFill>
          <a:ln w="76200">
            <a:solidFill>
              <a:srgbClr val="FFFFFF"/>
            </a:solidFill>
            <a:prstDash val="solid"/>
          </a:ln>
        </p:spPr>
      </p:sp>
      <p:sp>
        <p:nvSpPr>
          <p:cNvPr id="23" name="Text 21"/>
          <p:cNvSpPr txBox="1"/>
          <p:nvPr/>
        </p:nvSpPr>
        <p:spPr>
          <a:xfrm>
            <a:off x="6096000" y="2590800"/>
            <a:ext cx="635000" cy="635000"/>
          </a:xfrm>
          <a:prstGeom prst="rect">
            <a:avLst/>
          </a:prstGeom>
          <a:noFill/>
          <a:ln/>
        </p:spPr>
        <p:txBody>
          <a:bodyPr wrap="square" lIns="0" tIns="0" rIns="0" bIns="0" rtlCol="0" anchor="ctr"/>
          <a:lstStyle/>
          <a:p>
            <a:pPr algn="ctr" indent="0" marL="0">
              <a:buNone/>
            </a:pPr>
            <a:r>
              <a:rPr lang="en-US" sz="2300" dirty="0">
                <a:solidFill>
                  <a:srgbClr val="FFFFFF"/>
                </a:solidFill>
                <a:latin typeface="Arial Black" pitchFamily="34" charset="0"/>
                <a:ea typeface="Arial Black" pitchFamily="34" charset="-122"/>
                <a:cs typeface="Arial Black" pitchFamily="34" charset="-120"/>
              </a:rPr>
              <a:t>4</a:t>
            </a:r>
            <a:endParaRPr lang="en-US" sz="2300" dirty="0"/>
          </a:p>
        </p:txBody>
      </p:sp>
      <p:sp>
        <p:nvSpPr>
          <p:cNvPr id="24" name="Text 22"/>
          <p:cNvSpPr txBox="1"/>
          <p:nvPr/>
        </p:nvSpPr>
        <p:spPr>
          <a:xfrm>
            <a:off x="6096000" y="3365500"/>
            <a:ext cx="1617133" cy="698500"/>
          </a:xfrm>
          <a:prstGeom prst="rect">
            <a:avLst/>
          </a:prstGeom>
          <a:noFill/>
          <a:ln/>
        </p:spPr>
        <p:txBody>
          <a:bodyPr wrap="square" lIns="0" tIns="0" rIns="0" bIns="0" rtlCol="0" anchor="t"/>
          <a:lstStyle/>
          <a:p>
            <a:pPr indent="0" marL="0">
              <a:lnSpc>
                <a:spcPct val="100000"/>
              </a:lnSpc>
              <a:buNone/>
            </a:pPr>
            <a:r>
              <a:rPr lang="en-US" sz="1550" dirty="0">
                <a:solidFill>
                  <a:srgbClr val="111111"/>
                </a:solidFill>
                <a:latin typeface="Arial Black" pitchFamily="34" charset="0"/>
                <a:ea typeface="Arial Black" pitchFamily="34" charset="-122"/>
                <a:cs typeface="Arial Black" pitchFamily="34" charset="-120"/>
              </a:rPr>
              <a:t>Run rules</a:t>
            </a:r>
            <a:endParaRPr lang="en-US" sz="1550" dirty="0"/>
          </a:p>
        </p:txBody>
      </p:sp>
      <p:sp>
        <p:nvSpPr>
          <p:cNvPr id="25" name="Text 23"/>
          <p:cNvSpPr txBox="1"/>
          <p:nvPr/>
        </p:nvSpPr>
        <p:spPr>
          <a:xfrm>
            <a:off x="6096000" y="4127500"/>
            <a:ext cx="1566333" cy="254000"/>
          </a:xfrm>
          <a:prstGeom prst="rect">
            <a:avLst/>
          </a:prstGeom>
          <a:noFill/>
          <a:ln/>
        </p:spPr>
        <p:txBody>
          <a:bodyPr wrap="square" lIns="0" tIns="0" rIns="0" bIns="0" rtlCol="0" anchor="t"/>
          <a:lstStyle/>
          <a:p>
            <a:pPr indent="0" marL="0">
              <a:buNone/>
            </a:pPr>
            <a:r>
              <a:rPr lang="en-US" sz="1300" b="1" dirty="0">
                <a:solidFill>
                  <a:srgbClr val="E63312"/>
                </a:solidFill>
                <a:latin typeface="Arial" pitchFamily="34" charset="0"/>
                <a:ea typeface="Arial" pitchFamily="34" charset="-122"/>
                <a:cs typeface="Arial" pitchFamily="34" charset="-120"/>
              </a:rPr>
              <a:t>System</a:t>
            </a:r>
            <a:endParaRPr lang="en-US" sz="1300" dirty="0"/>
          </a:p>
        </p:txBody>
      </p:sp>
      <p:sp>
        <p:nvSpPr>
          <p:cNvPr id="26" name="Text 24"/>
          <p:cNvSpPr txBox="1"/>
          <p:nvPr/>
        </p:nvSpPr>
        <p:spPr>
          <a:xfrm>
            <a:off x="7789333" y="2286000"/>
            <a:ext cx="1629833" cy="215900"/>
          </a:xfrm>
          <a:prstGeom prst="rect">
            <a:avLst/>
          </a:prstGeom>
          <a:noFill/>
          <a:ln/>
        </p:spPr>
        <p:txBody>
          <a:bodyPr wrap="square" lIns="0" tIns="0" rIns="0" bIns="0" rtlCol="0" anchor="t"/>
          <a:lstStyle/>
          <a:p>
            <a:pPr indent="0" marL="0">
              <a:buNone/>
            </a:pPr>
            <a:r>
              <a:rPr lang="en-US" sz="950" b="1" spc="200" kern="0" dirty="0">
                <a:solidFill>
                  <a:srgbClr val="666666"/>
                </a:solidFill>
                <a:latin typeface="Arial" pitchFamily="34" charset="0"/>
                <a:ea typeface="Arial" pitchFamily="34" charset="-122"/>
                <a:cs typeface="Arial" pitchFamily="34" charset="-120"/>
              </a:rPr>
              <a:t>RESULT</a:t>
            </a:r>
            <a:endParaRPr lang="en-US" sz="950" dirty="0"/>
          </a:p>
        </p:txBody>
      </p:sp>
      <p:sp>
        <p:nvSpPr>
          <p:cNvPr id="27" name="Shape 25"/>
          <p:cNvSpPr/>
          <p:nvPr/>
        </p:nvSpPr>
        <p:spPr>
          <a:xfrm>
            <a:off x="7789333" y="2590800"/>
            <a:ext cx="635000" cy="635000"/>
          </a:xfrm>
          <a:prstGeom prst="ellipse">
            <a:avLst/>
          </a:prstGeom>
          <a:solidFill>
            <a:srgbClr val="111111"/>
          </a:solidFill>
          <a:ln w="76200">
            <a:solidFill>
              <a:srgbClr val="FFFFFF"/>
            </a:solidFill>
            <a:prstDash val="solid"/>
          </a:ln>
        </p:spPr>
      </p:sp>
      <p:sp>
        <p:nvSpPr>
          <p:cNvPr id="28" name="Text 26"/>
          <p:cNvSpPr txBox="1"/>
          <p:nvPr/>
        </p:nvSpPr>
        <p:spPr>
          <a:xfrm>
            <a:off x="7789333" y="2590800"/>
            <a:ext cx="635000" cy="635000"/>
          </a:xfrm>
          <a:prstGeom prst="rect">
            <a:avLst/>
          </a:prstGeom>
          <a:noFill/>
          <a:ln/>
        </p:spPr>
        <p:txBody>
          <a:bodyPr wrap="square" lIns="0" tIns="0" rIns="0" bIns="0" rtlCol="0" anchor="ctr"/>
          <a:lstStyle/>
          <a:p>
            <a:pPr algn="ctr" indent="0" marL="0">
              <a:buNone/>
            </a:pPr>
            <a:r>
              <a:rPr lang="en-US" sz="2300" dirty="0">
                <a:solidFill>
                  <a:srgbClr val="FFFFFF"/>
                </a:solidFill>
                <a:latin typeface="Arial Black" pitchFamily="34" charset="0"/>
                <a:ea typeface="Arial Black" pitchFamily="34" charset="-122"/>
                <a:cs typeface="Arial Black" pitchFamily="34" charset="-120"/>
              </a:rPr>
              <a:t>5</a:t>
            </a:r>
            <a:endParaRPr lang="en-US" sz="2300" dirty="0"/>
          </a:p>
        </p:txBody>
      </p:sp>
      <p:sp>
        <p:nvSpPr>
          <p:cNvPr id="29" name="Text 27"/>
          <p:cNvSpPr txBox="1"/>
          <p:nvPr/>
        </p:nvSpPr>
        <p:spPr>
          <a:xfrm>
            <a:off x="7789333" y="3365500"/>
            <a:ext cx="1617133" cy="698500"/>
          </a:xfrm>
          <a:prstGeom prst="rect">
            <a:avLst/>
          </a:prstGeom>
          <a:noFill/>
          <a:ln/>
        </p:spPr>
        <p:txBody>
          <a:bodyPr wrap="square" lIns="0" tIns="0" rIns="0" bIns="0" rtlCol="0" anchor="t"/>
          <a:lstStyle/>
          <a:p>
            <a:pPr indent="0" marL="0">
              <a:lnSpc>
                <a:spcPct val="100000"/>
              </a:lnSpc>
              <a:buNone/>
            </a:pPr>
            <a:r>
              <a:rPr lang="en-US" sz="1550" dirty="0">
                <a:solidFill>
                  <a:srgbClr val="111111"/>
                </a:solidFill>
                <a:latin typeface="Arial Black" pitchFamily="34" charset="0"/>
                <a:ea typeface="Arial Black" pitchFamily="34" charset="-122"/>
                <a:cs typeface="Arial Black" pitchFamily="34" charset="-120"/>
              </a:rPr>
              <a:t>Review findings</a:t>
            </a:r>
            <a:endParaRPr lang="en-US" sz="1550" dirty="0"/>
          </a:p>
        </p:txBody>
      </p:sp>
      <p:sp>
        <p:nvSpPr>
          <p:cNvPr id="30" name="Text 28"/>
          <p:cNvSpPr txBox="1"/>
          <p:nvPr/>
        </p:nvSpPr>
        <p:spPr>
          <a:xfrm>
            <a:off x="7789333" y="4127500"/>
            <a:ext cx="1566333" cy="254000"/>
          </a:xfrm>
          <a:prstGeom prst="rect">
            <a:avLst/>
          </a:prstGeom>
          <a:noFill/>
          <a:ln/>
        </p:spPr>
        <p:txBody>
          <a:bodyPr wrap="square" lIns="0" tIns="0" rIns="0" bIns="0" rtlCol="0" anchor="t"/>
          <a:lstStyle/>
          <a:p>
            <a:pPr indent="0" marL="0">
              <a:buNone/>
            </a:pPr>
            <a:r>
              <a:rPr lang="en-US" sz="1300" b="1" dirty="0">
                <a:solidFill>
                  <a:srgbClr val="666666"/>
                </a:solidFill>
                <a:latin typeface="Arial" pitchFamily="34" charset="0"/>
                <a:ea typeface="Arial" pitchFamily="34" charset="-122"/>
                <a:cs typeface="Arial" pitchFamily="34" charset="-120"/>
              </a:rPr>
              <a:t>Pharmacist</a:t>
            </a:r>
            <a:endParaRPr lang="en-US" sz="1300" dirty="0"/>
          </a:p>
        </p:txBody>
      </p:sp>
      <p:sp>
        <p:nvSpPr>
          <p:cNvPr id="31" name="Text 29"/>
          <p:cNvSpPr txBox="1"/>
          <p:nvPr/>
        </p:nvSpPr>
        <p:spPr>
          <a:xfrm>
            <a:off x="9482667" y="2286000"/>
            <a:ext cx="1629833" cy="215900"/>
          </a:xfrm>
          <a:prstGeom prst="rect">
            <a:avLst/>
          </a:prstGeom>
          <a:noFill/>
          <a:ln/>
        </p:spPr>
        <p:txBody>
          <a:bodyPr wrap="square" lIns="0" tIns="0" rIns="0" bIns="0" rtlCol="0" anchor="t"/>
          <a:lstStyle/>
          <a:p>
            <a:pPr indent="0" marL="0">
              <a:buNone/>
            </a:pPr>
            <a:r>
              <a:rPr lang="en-US" sz="950" b="1" spc="200" kern="0" dirty="0">
                <a:solidFill>
                  <a:srgbClr val="666666"/>
                </a:solidFill>
                <a:latin typeface="Arial" pitchFamily="34" charset="0"/>
                <a:ea typeface="Arial" pitchFamily="34" charset="-122"/>
                <a:cs typeface="Arial" pitchFamily="34" charset="-120"/>
              </a:rPr>
              <a:t>ACTION</a:t>
            </a:r>
            <a:endParaRPr lang="en-US" sz="950" dirty="0"/>
          </a:p>
        </p:txBody>
      </p:sp>
      <p:sp>
        <p:nvSpPr>
          <p:cNvPr id="32" name="Shape 30"/>
          <p:cNvSpPr/>
          <p:nvPr/>
        </p:nvSpPr>
        <p:spPr>
          <a:xfrm>
            <a:off x="9482667" y="2590800"/>
            <a:ext cx="635000" cy="635000"/>
          </a:xfrm>
          <a:prstGeom prst="ellipse">
            <a:avLst/>
          </a:prstGeom>
          <a:solidFill>
            <a:srgbClr val="111111"/>
          </a:solidFill>
          <a:ln w="76200">
            <a:solidFill>
              <a:srgbClr val="FFFFFF"/>
            </a:solidFill>
            <a:prstDash val="solid"/>
          </a:ln>
        </p:spPr>
      </p:sp>
      <p:sp>
        <p:nvSpPr>
          <p:cNvPr id="33" name="Text 31"/>
          <p:cNvSpPr txBox="1"/>
          <p:nvPr/>
        </p:nvSpPr>
        <p:spPr>
          <a:xfrm>
            <a:off x="9482667" y="2590800"/>
            <a:ext cx="635000" cy="635000"/>
          </a:xfrm>
          <a:prstGeom prst="rect">
            <a:avLst/>
          </a:prstGeom>
          <a:noFill/>
          <a:ln/>
        </p:spPr>
        <p:txBody>
          <a:bodyPr wrap="square" lIns="0" tIns="0" rIns="0" bIns="0" rtlCol="0" anchor="ctr"/>
          <a:lstStyle/>
          <a:p>
            <a:pPr algn="ctr" indent="0" marL="0">
              <a:buNone/>
            </a:pPr>
            <a:r>
              <a:rPr lang="en-US" sz="2300" dirty="0">
                <a:solidFill>
                  <a:srgbClr val="FFFFFF"/>
                </a:solidFill>
                <a:latin typeface="Arial Black" pitchFamily="34" charset="0"/>
                <a:ea typeface="Arial Black" pitchFamily="34" charset="-122"/>
                <a:cs typeface="Arial Black" pitchFamily="34" charset="-120"/>
              </a:rPr>
              <a:t>6</a:t>
            </a:r>
            <a:endParaRPr lang="en-US" sz="2300" dirty="0"/>
          </a:p>
        </p:txBody>
      </p:sp>
      <p:sp>
        <p:nvSpPr>
          <p:cNvPr id="34" name="Text 32"/>
          <p:cNvSpPr txBox="1"/>
          <p:nvPr/>
        </p:nvSpPr>
        <p:spPr>
          <a:xfrm>
            <a:off x="9482667" y="3365500"/>
            <a:ext cx="1617133" cy="698500"/>
          </a:xfrm>
          <a:prstGeom prst="rect">
            <a:avLst/>
          </a:prstGeom>
          <a:noFill/>
          <a:ln/>
        </p:spPr>
        <p:txBody>
          <a:bodyPr wrap="square" lIns="0" tIns="0" rIns="0" bIns="0" rtlCol="0" anchor="t"/>
          <a:lstStyle/>
          <a:p>
            <a:pPr indent="0" marL="0">
              <a:lnSpc>
                <a:spcPct val="100000"/>
              </a:lnSpc>
              <a:buNone/>
            </a:pPr>
            <a:r>
              <a:rPr lang="en-US" sz="1550" dirty="0">
                <a:solidFill>
                  <a:srgbClr val="111111"/>
                </a:solidFill>
                <a:latin typeface="Arial Black" pitchFamily="34" charset="0"/>
                <a:ea typeface="Arial Black" pitchFamily="34" charset="-122"/>
                <a:cs typeface="Arial Black" pitchFamily="34" charset="-120"/>
              </a:rPr>
              <a:t>Sign plan</a:t>
            </a:r>
            <a:endParaRPr lang="en-US" sz="1550" dirty="0"/>
          </a:p>
        </p:txBody>
      </p:sp>
      <p:sp>
        <p:nvSpPr>
          <p:cNvPr id="35" name="Text 33"/>
          <p:cNvSpPr txBox="1"/>
          <p:nvPr/>
        </p:nvSpPr>
        <p:spPr>
          <a:xfrm>
            <a:off x="9482667" y="4127500"/>
            <a:ext cx="1566333" cy="254000"/>
          </a:xfrm>
          <a:prstGeom prst="rect">
            <a:avLst/>
          </a:prstGeom>
          <a:noFill/>
          <a:ln/>
        </p:spPr>
        <p:txBody>
          <a:bodyPr wrap="square" lIns="0" tIns="0" rIns="0" bIns="0" rtlCol="0" anchor="t"/>
          <a:lstStyle/>
          <a:p>
            <a:pPr indent="0" marL="0">
              <a:buNone/>
            </a:pPr>
            <a:r>
              <a:rPr lang="en-US" sz="1300" b="1" dirty="0">
                <a:solidFill>
                  <a:srgbClr val="666666"/>
                </a:solidFill>
                <a:latin typeface="Arial" pitchFamily="34" charset="0"/>
                <a:ea typeface="Arial" pitchFamily="34" charset="-122"/>
                <a:cs typeface="Arial" pitchFamily="34" charset="-120"/>
              </a:rPr>
              <a:t>Pharmacist</a:t>
            </a:r>
            <a:endParaRPr lang="en-US" sz="1300" dirty="0"/>
          </a:p>
        </p:txBody>
      </p:sp>
      <p:sp>
        <p:nvSpPr>
          <p:cNvPr id="36" name="Shape 34"/>
          <p:cNvSpPr/>
          <p:nvPr/>
        </p:nvSpPr>
        <p:spPr>
          <a:xfrm>
            <a:off x="1016000" y="4762500"/>
            <a:ext cx="10160000" cy="38100"/>
          </a:xfrm>
          <a:prstGeom prst="rect">
            <a:avLst/>
          </a:prstGeom>
          <a:solidFill>
            <a:srgbClr val="111111"/>
          </a:solidFill>
          <a:ln/>
        </p:spPr>
      </p:sp>
      <p:sp>
        <p:nvSpPr>
          <p:cNvPr id="37" name="Text 35"/>
          <p:cNvSpPr txBox="1"/>
          <p:nvPr/>
        </p:nvSpPr>
        <p:spPr>
          <a:xfrm>
            <a:off x="1016000" y="4965700"/>
            <a:ext cx="2540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THE SYSTEM STOPS AND ASKS WHEN</a:t>
            </a:r>
            <a:endParaRPr lang="en-US" sz="1100" dirty="0"/>
          </a:p>
        </p:txBody>
      </p:sp>
      <p:sp>
        <p:nvSpPr>
          <p:cNvPr id="38" name="Text 36"/>
          <p:cNvSpPr txBox="1"/>
          <p:nvPr/>
        </p:nvSpPr>
        <p:spPr>
          <a:xfrm>
            <a:off x="3873500" y="4965700"/>
            <a:ext cx="2286000" cy="6350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a drug name is uncertain</a:t>
            </a:r>
            <a:endParaRPr lang="en-US" sz="1600" dirty="0"/>
          </a:p>
        </p:txBody>
      </p:sp>
      <p:sp>
        <p:nvSpPr>
          <p:cNvPr id="39" name="Text 37"/>
          <p:cNvSpPr txBox="1"/>
          <p:nvPr/>
        </p:nvSpPr>
        <p:spPr>
          <a:xfrm>
            <a:off x="6305550" y="4965700"/>
            <a:ext cx="2286000" cy="6350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an input is missing</a:t>
            </a:r>
            <a:endParaRPr lang="en-US" sz="1600" dirty="0"/>
          </a:p>
        </p:txBody>
      </p:sp>
      <p:sp>
        <p:nvSpPr>
          <p:cNvPr id="40" name="Text 38"/>
          <p:cNvSpPr txBox="1"/>
          <p:nvPr/>
        </p:nvSpPr>
        <p:spPr>
          <a:xfrm>
            <a:off x="8737600" y="4965700"/>
            <a:ext cx="2286000" cy="6350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a finding is unreviewed</a:t>
            </a:r>
            <a:endParaRPr lang="en-US" sz="1600" dirty="0"/>
          </a:p>
        </p:txBody>
      </p:sp>
      <p:sp>
        <p:nvSpPr>
          <p:cNvPr id="41" name="Text 39"/>
          <p:cNvSpPr txBox="1"/>
          <p:nvPr/>
        </p:nvSpPr>
        <p:spPr>
          <a:xfrm>
            <a:off x="1016000" y="5905500"/>
            <a:ext cx="10160000" cy="279400"/>
          </a:xfrm>
          <a:prstGeom prst="rect">
            <a:avLst/>
          </a:prstGeom>
          <a:noFill/>
          <a:ln/>
        </p:spPr>
        <p:txBody>
          <a:bodyPr wrap="square" lIns="0" tIns="0" rIns="0" bIns="0" rtlCol="0" anchor="t"/>
          <a:lstStyle/>
          <a:p>
            <a:pPr indent="0" marL="0">
              <a:buNone/>
            </a:pPr>
            <a:r>
              <a:rPr lang="en-US" sz="1400" i="1" dirty="0">
                <a:solidFill>
                  <a:srgbClr val="666666"/>
                </a:solidFill>
                <a:latin typeface="Arial" pitchFamily="34" charset="0"/>
                <a:ea typeface="Arial" pitchFamily="34" charset="-122"/>
                <a:cs typeface="Arial" pitchFamily="34" charset="-120"/>
              </a:rPr>
              <a:t>After 48 hours the episode comes back for a time-out review.</a:t>
            </a:r>
            <a:endParaRPr lang="en-US" sz="14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06 · TECHNOLOGY STACK</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A small, typed stack</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06</a:t>
            </a:r>
            <a:endParaRPr lang="en-US" sz="5500" dirty="0"/>
          </a:p>
        </p:txBody>
      </p:sp>
      <p:sp>
        <p:nvSpPr>
          <p:cNvPr id="5" name="Shape 3"/>
          <p:cNvSpPr/>
          <p:nvPr/>
        </p:nvSpPr>
        <p:spPr>
          <a:xfrm>
            <a:off x="1016000" y="2286000"/>
            <a:ext cx="1905000" cy="469900"/>
          </a:xfrm>
          <a:prstGeom prst="rect">
            <a:avLst/>
          </a:prstGeom>
          <a:solidFill>
            <a:srgbClr val="111111"/>
          </a:solidFill>
          <a:ln/>
        </p:spPr>
      </p:sp>
      <p:sp>
        <p:nvSpPr>
          <p:cNvPr id="6" name="Text 4"/>
          <p:cNvSpPr txBox="1"/>
          <p:nvPr/>
        </p:nvSpPr>
        <p:spPr>
          <a:xfrm>
            <a:off x="1168400" y="2286000"/>
            <a:ext cx="1714500" cy="46990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Frontend</a:t>
            </a:r>
            <a:endParaRPr lang="en-US" sz="1400" dirty="0"/>
          </a:p>
        </p:txBody>
      </p:sp>
      <p:sp>
        <p:nvSpPr>
          <p:cNvPr id="7" name="Text 5"/>
          <p:cNvSpPr txBox="1"/>
          <p:nvPr/>
        </p:nvSpPr>
        <p:spPr>
          <a:xfrm>
            <a:off x="3111500" y="2286000"/>
            <a:ext cx="3937000" cy="46990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Next.js · React · TypeScript</a:t>
            </a:r>
            <a:endParaRPr lang="en-US" sz="1500" dirty="0"/>
          </a:p>
        </p:txBody>
      </p:sp>
      <p:sp>
        <p:nvSpPr>
          <p:cNvPr id="8" name="Shape 6"/>
          <p:cNvSpPr/>
          <p:nvPr/>
        </p:nvSpPr>
        <p:spPr>
          <a:xfrm>
            <a:off x="1016000" y="2870200"/>
            <a:ext cx="1905000" cy="469900"/>
          </a:xfrm>
          <a:prstGeom prst="rect">
            <a:avLst/>
          </a:prstGeom>
          <a:solidFill>
            <a:srgbClr val="111111"/>
          </a:solidFill>
          <a:ln/>
        </p:spPr>
      </p:sp>
      <p:sp>
        <p:nvSpPr>
          <p:cNvPr id="9" name="Text 7"/>
          <p:cNvSpPr txBox="1"/>
          <p:nvPr/>
        </p:nvSpPr>
        <p:spPr>
          <a:xfrm>
            <a:off x="1168400" y="2870200"/>
            <a:ext cx="1714500" cy="46990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Backend</a:t>
            </a:r>
            <a:endParaRPr lang="en-US" sz="1400" dirty="0"/>
          </a:p>
        </p:txBody>
      </p:sp>
      <p:sp>
        <p:nvSpPr>
          <p:cNvPr id="10" name="Text 8"/>
          <p:cNvSpPr txBox="1"/>
          <p:nvPr/>
        </p:nvSpPr>
        <p:spPr>
          <a:xfrm>
            <a:off x="3111500" y="2870200"/>
            <a:ext cx="3937000" cy="46990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Python · FastAPI · Pydantic</a:t>
            </a:r>
            <a:endParaRPr lang="en-US" sz="1500" dirty="0"/>
          </a:p>
        </p:txBody>
      </p:sp>
      <p:sp>
        <p:nvSpPr>
          <p:cNvPr id="11" name="Shape 9"/>
          <p:cNvSpPr/>
          <p:nvPr/>
        </p:nvSpPr>
        <p:spPr>
          <a:xfrm>
            <a:off x="1016000" y="3454400"/>
            <a:ext cx="1905000" cy="469900"/>
          </a:xfrm>
          <a:prstGeom prst="rect">
            <a:avLst/>
          </a:prstGeom>
          <a:solidFill>
            <a:srgbClr val="111111"/>
          </a:solidFill>
          <a:ln/>
        </p:spPr>
      </p:sp>
      <p:sp>
        <p:nvSpPr>
          <p:cNvPr id="12" name="Text 10"/>
          <p:cNvSpPr txBox="1"/>
          <p:nvPr/>
        </p:nvSpPr>
        <p:spPr>
          <a:xfrm>
            <a:off x="1168400" y="3454400"/>
            <a:ext cx="1714500" cy="46990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Rule engine</a:t>
            </a:r>
            <a:endParaRPr lang="en-US" sz="1400" dirty="0"/>
          </a:p>
        </p:txBody>
      </p:sp>
      <p:sp>
        <p:nvSpPr>
          <p:cNvPr id="13" name="Text 11"/>
          <p:cNvSpPr txBox="1"/>
          <p:nvPr/>
        </p:nvSpPr>
        <p:spPr>
          <a:xfrm>
            <a:off x="3111500" y="3454400"/>
            <a:ext cx="3937000" cy="46990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pure Python · YAML rule pack</a:t>
            </a:r>
            <a:endParaRPr lang="en-US" sz="1500" dirty="0"/>
          </a:p>
        </p:txBody>
      </p:sp>
      <p:sp>
        <p:nvSpPr>
          <p:cNvPr id="14" name="Shape 12"/>
          <p:cNvSpPr/>
          <p:nvPr/>
        </p:nvSpPr>
        <p:spPr>
          <a:xfrm>
            <a:off x="1016000" y="4038600"/>
            <a:ext cx="1905000" cy="469900"/>
          </a:xfrm>
          <a:prstGeom prst="rect">
            <a:avLst/>
          </a:prstGeom>
          <a:solidFill>
            <a:srgbClr val="111111"/>
          </a:solidFill>
          <a:ln/>
        </p:spPr>
      </p:sp>
      <p:sp>
        <p:nvSpPr>
          <p:cNvPr id="15" name="Text 13"/>
          <p:cNvSpPr txBox="1"/>
          <p:nvPr/>
        </p:nvSpPr>
        <p:spPr>
          <a:xfrm>
            <a:off x="1168400" y="4038600"/>
            <a:ext cx="1714500" cy="46990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Database</a:t>
            </a:r>
            <a:endParaRPr lang="en-US" sz="1400" dirty="0"/>
          </a:p>
        </p:txBody>
      </p:sp>
      <p:sp>
        <p:nvSpPr>
          <p:cNvPr id="16" name="Text 14"/>
          <p:cNvSpPr txBox="1"/>
          <p:nvPr/>
        </p:nvSpPr>
        <p:spPr>
          <a:xfrm>
            <a:off x="3111500" y="4038600"/>
            <a:ext cx="3937000" cy="46990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append-only audit log · SQLite index</a:t>
            </a:r>
            <a:endParaRPr lang="en-US" sz="1500" dirty="0"/>
          </a:p>
        </p:txBody>
      </p:sp>
      <p:sp>
        <p:nvSpPr>
          <p:cNvPr id="17" name="Shape 15"/>
          <p:cNvSpPr/>
          <p:nvPr/>
        </p:nvSpPr>
        <p:spPr>
          <a:xfrm>
            <a:off x="1016000" y="4622800"/>
            <a:ext cx="1905000" cy="469900"/>
          </a:xfrm>
          <a:prstGeom prst="rect">
            <a:avLst/>
          </a:prstGeom>
          <a:solidFill>
            <a:srgbClr val="E63312"/>
          </a:solidFill>
          <a:ln/>
        </p:spPr>
      </p:sp>
      <p:sp>
        <p:nvSpPr>
          <p:cNvPr id="18" name="Text 16"/>
          <p:cNvSpPr txBox="1"/>
          <p:nvPr/>
        </p:nvSpPr>
        <p:spPr>
          <a:xfrm>
            <a:off x="1168400" y="4622800"/>
            <a:ext cx="1714500" cy="46990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AI / ML</a:t>
            </a:r>
            <a:endParaRPr lang="en-US" sz="1400" dirty="0"/>
          </a:p>
        </p:txBody>
      </p:sp>
      <p:sp>
        <p:nvSpPr>
          <p:cNvPr id="19" name="Text 17"/>
          <p:cNvSpPr txBox="1"/>
          <p:nvPr/>
        </p:nvSpPr>
        <p:spPr>
          <a:xfrm>
            <a:off x="3111500" y="4622800"/>
            <a:ext cx="3937000" cy="46990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optional LLM · OCR photo input</a:t>
            </a:r>
            <a:endParaRPr lang="en-US" sz="1500" dirty="0"/>
          </a:p>
        </p:txBody>
      </p:sp>
      <p:sp>
        <p:nvSpPr>
          <p:cNvPr id="20" name="Shape 18"/>
          <p:cNvSpPr/>
          <p:nvPr/>
        </p:nvSpPr>
        <p:spPr>
          <a:xfrm>
            <a:off x="1016000" y="5207000"/>
            <a:ext cx="1905000" cy="469900"/>
          </a:xfrm>
          <a:prstGeom prst="rect">
            <a:avLst/>
          </a:prstGeom>
          <a:solidFill>
            <a:srgbClr val="111111"/>
          </a:solidFill>
          <a:ln/>
        </p:spPr>
      </p:sp>
      <p:sp>
        <p:nvSpPr>
          <p:cNvPr id="21" name="Text 19"/>
          <p:cNvSpPr txBox="1"/>
          <p:nvPr/>
        </p:nvSpPr>
        <p:spPr>
          <a:xfrm>
            <a:off x="1168400" y="5207000"/>
            <a:ext cx="1714500" cy="469900"/>
          </a:xfrm>
          <a:prstGeom prst="rect">
            <a:avLst/>
          </a:prstGeom>
          <a:noFill/>
          <a:ln/>
        </p:spPr>
        <p:txBody>
          <a:bodyPr wrap="square" lIns="0" tIns="0" rIns="0" bIns="0"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Cloud / APIs</a:t>
            </a:r>
            <a:endParaRPr lang="en-US" sz="1400" dirty="0"/>
          </a:p>
        </p:txBody>
      </p:sp>
      <p:sp>
        <p:nvSpPr>
          <p:cNvPr id="22" name="Text 20"/>
          <p:cNvSpPr txBox="1"/>
          <p:nvPr/>
        </p:nvSpPr>
        <p:spPr>
          <a:xfrm>
            <a:off x="3111500" y="5207000"/>
            <a:ext cx="3937000" cy="46990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REST API · optional Groq / Gemini</a:t>
            </a:r>
            <a:endParaRPr lang="en-US" sz="1500" dirty="0"/>
          </a:p>
        </p:txBody>
      </p:sp>
      <p:sp>
        <p:nvSpPr>
          <p:cNvPr id="23" name="Text 21"/>
          <p:cNvSpPr txBox="1"/>
          <p:nvPr/>
        </p:nvSpPr>
        <p:spPr>
          <a:xfrm>
            <a:off x="7874000" y="2286000"/>
            <a:ext cx="3302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EVERY RULE IS SOURCED</a:t>
            </a:r>
            <a:endParaRPr lang="en-US" sz="1100" dirty="0"/>
          </a:p>
        </p:txBody>
      </p:sp>
      <p:sp>
        <p:nvSpPr>
          <p:cNvPr id="24" name="Text 22"/>
          <p:cNvSpPr txBox="1"/>
          <p:nvPr/>
        </p:nvSpPr>
        <p:spPr>
          <a:xfrm>
            <a:off x="7874000" y="2635250"/>
            <a:ext cx="3556000" cy="393700"/>
          </a:xfrm>
          <a:prstGeom prst="rect">
            <a:avLst/>
          </a:prstGeom>
          <a:noFill/>
          <a:ln/>
        </p:spPr>
        <p:txBody>
          <a:bodyPr wrap="square" lIns="0" tIns="0" rIns="0" bIns="0" rtlCol="0" anchor="t"/>
          <a:lstStyle/>
          <a:p>
            <a:pPr indent="0" marL="0">
              <a:buNone/>
            </a:pPr>
            <a:r>
              <a:rPr lang="en-US" sz="2000" dirty="0">
                <a:solidFill>
                  <a:srgbClr val="111111"/>
                </a:solidFill>
                <a:latin typeface="Arial Black" pitchFamily="34" charset="0"/>
                <a:ea typeface="Arial Black" pitchFamily="34" charset="-122"/>
                <a:cs typeface="Arial Black" pitchFamily="34" charset="-120"/>
              </a:rPr>
              <a:t>NCDC 2025</a:t>
            </a:r>
            <a:endParaRPr lang="en-US" sz="2000" dirty="0"/>
          </a:p>
        </p:txBody>
      </p:sp>
      <p:sp>
        <p:nvSpPr>
          <p:cNvPr id="25" name="Text 23"/>
          <p:cNvSpPr txBox="1"/>
          <p:nvPr/>
        </p:nvSpPr>
        <p:spPr>
          <a:xfrm>
            <a:off x="7874000" y="3028950"/>
            <a:ext cx="3302000" cy="254000"/>
          </a:xfrm>
          <a:prstGeom prst="rect">
            <a:avLst/>
          </a:prstGeom>
          <a:noFill/>
          <a:ln/>
        </p:spPr>
        <p:txBody>
          <a:bodyPr wrap="square" lIns="0" tIns="0" rIns="0" bIns="0" rtlCol="0" anchor="t"/>
          <a:lstStyle/>
          <a:p>
            <a:pPr indent="0" marL="0">
              <a:buNone/>
            </a:pPr>
            <a:r>
              <a:rPr lang="en-US" sz="1400" dirty="0">
                <a:solidFill>
                  <a:srgbClr val="666666"/>
                </a:solidFill>
                <a:latin typeface="Arial" pitchFamily="34" charset="0"/>
                <a:ea typeface="Arial" pitchFamily="34" charset="-122"/>
                <a:cs typeface="Arial" pitchFamily="34" charset="-120"/>
              </a:rPr>
              <a:t>106 syndrome codes</a:t>
            </a:r>
            <a:endParaRPr lang="en-US" sz="1400" dirty="0"/>
          </a:p>
        </p:txBody>
      </p:sp>
      <p:sp>
        <p:nvSpPr>
          <p:cNvPr id="26" name="Text 24"/>
          <p:cNvSpPr txBox="1"/>
          <p:nvPr/>
        </p:nvSpPr>
        <p:spPr>
          <a:xfrm>
            <a:off x="7874000" y="3460750"/>
            <a:ext cx="3556000" cy="393700"/>
          </a:xfrm>
          <a:prstGeom prst="rect">
            <a:avLst/>
          </a:prstGeom>
          <a:noFill/>
          <a:ln/>
        </p:spPr>
        <p:txBody>
          <a:bodyPr wrap="square" lIns="0" tIns="0" rIns="0" bIns="0" rtlCol="0" anchor="t"/>
          <a:lstStyle/>
          <a:p>
            <a:pPr indent="0" marL="0">
              <a:buNone/>
            </a:pPr>
            <a:r>
              <a:rPr lang="en-US" sz="2000" dirty="0">
                <a:solidFill>
                  <a:srgbClr val="111111"/>
                </a:solidFill>
                <a:latin typeface="Arial Black" pitchFamily="34" charset="0"/>
                <a:ea typeface="Arial Black" pitchFamily="34" charset="-122"/>
                <a:cs typeface="Arial Black" pitchFamily="34" charset="-120"/>
              </a:rPr>
              <a:t>WHO AWaRe 2025</a:t>
            </a:r>
            <a:endParaRPr lang="en-US" sz="2000" dirty="0"/>
          </a:p>
        </p:txBody>
      </p:sp>
      <p:sp>
        <p:nvSpPr>
          <p:cNvPr id="27" name="Text 25"/>
          <p:cNvSpPr txBox="1"/>
          <p:nvPr/>
        </p:nvSpPr>
        <p:spPr>
          <a:xfrm>
            <a:off x="7874000" y="3854450"/>
            <a:ext cx="3302000" cy="254000"/>
          </a:xfrm>
          <a:prstGeom prst="rect">
            <a:avLst/>
          </a:prstGeom>
          <a:noFill/>
          <a:ln/>
        </p:spPr>
        <p:txBody>
          <a:bodyPr wrap="square" lIns="0" tIns="0" rIns="0" bIns="0" rtlCol="0" anchor="t"/>
          <a:lstStyle/>
          <a:p>
            <a:pPr indent="0" marL="0">
              <a:buNone/>
            </a:pPr>
            <a:r>
              <a:rPr lang="en-US" sz="1400" dirty="0">
                <a:solidFill>
                  <a:srgbClr val="666666"/>
                </a:solidFill>
                <a:latin typeface="Arial" pitchFamily="34" charset="0"/>
                <a:ea typeface="Arial" pitchFamily="34" charset="-122"/>
                <a:cs typeface="Arial" pitchFamily="34" charset="-120"/>
              </a:rPr>
              <a:t>274 drugs</a:t>
            </a:r>
            <a:endParaRPr lang="en-US" sz="1400" dirty="0"/>
          </a:p>
        </p:txBody>
      </p:sp>
      <p:sp>
        <p:nvSpPr>
          <p:cNvPr id="28" name="Text 26"/>
          <p:cNvSpPr txBox="1"/>
          <p:nvPr/>
        </p:nvSpPr>
        <p:spPr>
          <a:xfrm>
            <a:off x="7874000" y="4286250"/>
            <a:ext cx="3556000" cy="393700"/>
          </a:xfrm>
          <a:prstGeom prst="rect">
            <a:avLst/>
          </a:prstGeom>
          <a:noFill/>
          <a:ln/>
        </p:spPr>
        <p:txBody>
          <a:bodyPr wrap="square" lIns="0" tIns="0" rIns="0" bIns="0" rtlCol="0" anchor="t"/>
          <a:lstStyle/>
          <a:p>
            <a:pPr indent="0" marL="0">
              <a:buNone/>
            </a:pPr>
            <a:r>
              <a:rPr lang="en-US" sz="2000" dirty="0">
                <a:solidFill>
                  <a:srgbClr val="111111"/>
                </a:solidFill>
                <a:latin typeface="Arial Black" pitchFamily="34" charset="0"/>
                <a:ea typeface="Arial Black" pitchFamily="34" charset="-122"/>
                <a:cs typeface="Arial Black" pitchFamily="34" charset="-120"/>
              </a:rPr>
              <a:t>ICMR 2019</a:t>
            </a:r>
            <a:endParaRPr lang="en-US" sz="2000" dirty="0"/>
          </a:p>
        </p:txBody>
      </p:sp>
      <p:sp>
        <p:nvSpPr>
          <p:cNvPr id="29" name="Text 27"/>
          <p:cNvSpPr txBox="1"/>
          <p:nvPr/>
        </p:nvSpPr>
        <p:spPr>
          <a:xfrm>
            <a:off x="7874000" y="4679950"/>
            <a:ext cx="3302000" cy="254000"/>
          </a:xfrm>
          <a:prstGeom prst="rect">
            <a:avLst/>
          </a:prstGeom>
          <a:noFill/>
          <a:ln/>
        </p:spPr>
        <p:txBody>
          <a:bodyPr wrap="square" lIns="0" tIns="0" rIns="0" bIns="0" rtlCol="0" anchor="t"/>
          <a:lstStyle/>
          <a:p>
            <a:pPr indent="0" marL="0">
              <a:buNone/>
            </a:pPr>
            <a:r>
              <a:rPr lang="en-US" sz="1400" dirty="0">
                <a:solidFill>
                  <a:srgbClr val="666666"/>
                </a:solidFill>
                <a:latin typeface="Arial" pitchFamily="34" charset="0"/>
                <a:ea typeface="Arial" pitchFamily="34" charset="-122"/>
                <a:cs typeface="Arial" pitchFamily="34" charset="-120"/>
              </a:rPr>
              <a:t>kidney dosing table</a:t>
            </a:r>
            <a:endParaRPr lang="en-US" sz="1400" dirty="0"/>
          </a:p>
        </p:txBody>
      </p:sp>
      <p:sp>
        <p:nvSpPr>
          <p:cNvPr id="30" name="Text 28"/>
          <p:cNvSpPr txBox="1"/>
          <p:nvPr/>
        </p:nvSpPr>
        <p:spPr>
          <a:xfrm>
            <a:off x="7874000" y="5111750"/>
            <a:ext cx="3556000" cy="393700"/>
          </a:xfrm>
          <a:prstGeom prst="rect">
            <a:avLst/>
          </a:prstGeom>
          <a:noFill/>
          <a:ln/>
        </p:spPr>
        <p:txBody>
          <a:bodyPr wrap="square" lIns="0" tIns="0" rIns="0" bIns="0" rtlCol="0" anchor="t"/>
          <a:lstStyle/>
          <a:p>
            <a:pPr indent="0" marL="0">
              <a:buNone/>
            </a:pPr>
            <a:r>
              <a:rPr lang="en-US" sz="2000" dirty="0">
                <a:solidFill>
                  <a:srgbClr val="111111"/>
                </a:solidFill>
                <a:latin typeface="Arial Black" pitchFamily="34" charset="0"/>
                <a:ea typeface="Arial Black" pitchFamily="34" charset="-122"/>
                <a:cs typeface="Arial Black" pitchFamily="34" charset="-120"/>
              </a:rPr>
              <a:t>DrugBank 5.1</a:t>
            </a:r>
            <a:endParaRPr lang="en-US" sz="2000" dirty="0"/>
          </a:p>
        </p:txBody>
      </p:sp>
      <p:sp>
        <p:nvSpPr>
          <p:cNvPr id="31" name="Text 29"/>
          <p:cNvSpPr txBox="1"/>
          <p:nvPr/>
        </p:nvSpPr>
        <p:spPr>
          <a:xfrm>
            <a:off x="7874000" y="5505450"/>
            <a:ext cx="3302000" cy="254000"/>
          </a:xfrm>
          <a:prstGeom prst="rect">
            <a:avLst/>
          </a:prstGeom>
          <a:noFill/>
          <a:ln/>
        </p:spPr>
        <p:txBody>
          <a:bodyPr wrap="square" lIns="0" tIns="0" rIns="0" bIns="0" rtlCol="0" anchor="t"/>
          <a:lstStyle/>
          <a:p>
            <a:pPr indent="0" marL="0">
              <a:buNone/>
            </a:pPr>
            <a:r>
              <a:rPr lang="en-US" sz="1400" dirty="0">
                <a:solidFill>
                  <a:srgbClr val="666666"/>
                </a:solidFill>
                <a:latin typeface="Arial" pitchFamily="34" charset="0"/>
                <a:ea typeface="Arial" pitchFamily="34" charset="-122"/>
                <a:cs typeface="Arial" pitchFamily="34" charset="-120"/>
              </a:rPr>
              <a:t>drug interactions</a:t>
            </a:r>
            <a:endParaRPr lang="en-US" sz="14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07 · SYSTEM ARCHITECTURE</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Rules decide; people approve</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07</a:t>
            </a:r>
            <a:endParaRPr lang="en-US" sz="5500" dirty="0"/>
          </a:p>
        </p:txBody>
      </p:sp>
      <p:sp>
        <p:nvSpPr>
          <p:cNvPr id="5" name="Shape 3"/>
          <p:cNvSpPr/>
          <p:nvPr/>
        </p:nvSpPr>
        <p:spPr>
          <a:xfrm>
            <a:off x="1016000" y="2222500"/>
            <a:ext cx="1905000" cy="1016000"/>
          </a:xfrm>
          <a:prstGeom prst="rect">
            <a:avLst/>
          </a:prstGeom>
          <a:solidFill>
            <a:srgbClr val="FFFFFF"/>
          </a:solidFill>
          <a:ln w="31750">
            <a:solidFill>
              <a:srgbClr val="111111"/>
            </a:solidFill>
            <a:prstDash val="solid"/>
          </a:ln>
        </p:spPr>
      </p:sp>
      <p:sp>
        <p:nvSpPr>
          <p:cNvPr id="6" name="Text 4"/>
          <p:cNvSpPr txBox="1"/>
          <p:nvPr/>
        </p:nvSpPr>
        <p:spPr>
          <a:xfrm>
            <a:off x="1016000" y="2336800"/>
            <a:ext cx="1905000" cy="444500"/>
          </a:xfrm>
          <a:prstGeom prst="rect">
            <a:avLst/>
          </a:prstGeom>
          <a:noFill/>
          <a:ln/>
        </p:spPr>
        <p:txBody>
          <a:bodyPr wrap="square" lIns="0" tIns="0" rIns="0" bIns="0" rtlCol="0" anchor="ctr"/>
          <a:lstStyle/>
          <a:p>
            <a:pPr algn="ctr" indent="0" marL="0">
              <a:buNone/>
            </a:pPr>
            <a:r>
              <a:rPr lang="en-US" sz="1900" dirty="0">
                <a:solidFill>
                  <a:srgbClr val="111111"/>
                </a:solidFill>
                <a:latin typeface="Arial Black" pitchFamily="34" charset="0"/>
                <a:ea typeface="Arial Black" pitchFamily="34" charset="-122"/>
                <a:cs typeface="Arial Black" pitchFamily="34" charset="-120"/>
              </a:rPr>
              <a:t>Browser</a:t>
            </a:r>
            <a:endParaRPr lang="en-US" sz="1900" dirty="0"/>
          </a:p>
        </p:txBody>
      </p:sp>
      <p:sp>
        <p:nvSpPr>
          <p:cNvPr id="7" name="Text 5"/>
          <p:cNvSpPr txBox="1"/>
          <p:nvPr/>
        </p:nvSpPr>
        <p:spPr>
          <a:xfrm>
            <a:off x="1016000" y="2794000"/>
            <a:ext cx="1905000" cy="254000"/>
          </a:xfrm>
          <a:prstGeom prst="rect">
            <a:avLst/>
          </a:prstGeom>
          <a:noFill/>
          <a:ln/>
        </p:spPr>
        <p:txBody>
          <a:bodyPr wrap="square" lIns="0" tIns="0" rIns="0" bIns="0" rtlCol="0" anchor="ctr"/>
          <a:lstStyle/>
          <a:p>
            <a:pPr algn="ctr" indent="0" marL="0">
              <a:buNone/>
            </a:pPr>
            <a:r>
              <a:rPr lang="en-US" sz="1200" b="1" dirty="0">
                <a:solidFill>
                  <a:srgbClr val="666666"/>
                </a:solidFill>
                <a:latin typeface="Arial" pitchFamily="34" charset="0"/>
                <a:ea typeface="Arial" pitchFamily="34" charset="-122"/>
                <a:cs typeface="Arial" pitchFamily="34" charset="-120"/>
              </a:rPr>
              <a:t>Next.js</a:t>
            </a:r>
            <a:endParaRPr lang="en-US" sz="1200" dirty="0"/>
          </a:p>
        </p:txBody>
      </p:sp>
      <p:sp>
        <p:nvSpPr>
          <p:cNvPr id="8" name="Shape 6"/>
          <p:cNvSpPr/>
          <p:nvPr/>
        </p:nvSpPr>
        <p:spPr>
          <a:xfrm>
            <a:off x="3429000" y="2222500"/>
            <a:ext cx="1905000" cy="1016000"/>
          </a:xfrm>
          <a:prstGeom prst="rect">
            <a:avLst/>
          </a:prstGeom>
          <a:solidFill>
            <a:srgbClr val="FFFFFF"/>
          </a:solidFill>
          <a:ln w="31750">
            <a:solidFill>
              <a:srgbClr val="111111"/>
            </a:solidFill>
            <a:prstDash val="solid"/>
          </a:ln>
        </p:spPr>
      </p:sp>
      <p:sp>
        <p:nvSpPr>
          <p:cNvPr id="9" name="Text 7"/>
          <p:cNvSpPr txBox="1"/>
          <p:nvPr/>
        </p:nvSpPr>
        <p:spPr>
          <a:xfrm>
            <a:off x="3429000" y="2336800"/>
            <a:ext cx="1905000" cy="444500"/>
          </a:xfrm>
          <a:prstGeom prst="rect">
            <a:avLst/>
          </a:prstGeom>
          <a:noFill/>
          <a:ln/>
        </p:spPr>
        <p:txBody>
          <a:bodyPr wrap="square" lIns="0" tIns="0" rIns="0" bIns="0" rtlCol="0" anchor="ctr"/>
          <a:lstStyle/>
          <a:p>
            <a:pPr algn="ctr" indent="0" marL="0">
              <a:buNone/>
            </a:pPr>
            <a:r>
              <a:rPr lang="en-US" sz="1900" dirty="0">
                <a:solidFill>
                  <a:srgbClr val="111111"/>
                </a:solidFill>
                <a:latin typeface="Arial Black" pitchFamily="34" charset="0"/>
                <a:ea typeface="Arial Black" pitchFamily="34" charset="-122"/>
                <a:cs typeface="Arial Black" pitchFamily="34" charset="-120"/>
              </a:rPr>
              <a:t>FastAPI</a:t>
            </a:r>
            <a:endParaRPr lang="en-US" sz="1900" dirty="0"/>
          </a:p>
        </p:txBody>
      </p:sp>
      <p:sp>
        <p:nvSpPr>
          <p:cNvPr id="10" name="Text 8"/>
          <p:cNvSpPr txBox="1"/>
          <p:nvPr/>
        </p:nvSpPr>
        <p:spPr>
          <a:xfrm>
            <a:off x="3429000" y="2794000"/>
            <a:ext cx="1905000" cy="254000"/>
          </a:xfrm>
          <a:prstGeom prst="rect">
            <a:avLst/>
          </a:prstGeom>
          <a:noFill/>
          <a:ln/>
        </p:spPr>
        <p:txBody>
          <a:bodyPr wrap="square" lIns="0" tIns="0" rIns="0" bIns="0" rtlCol="0" anchor="ctr"/>
          <a:lstStyle/>
          <a:p>
            <a:pPr algn="ctr" indent="0" marL="0">
              <a:buNone/>
            </a:pPr>
            <a:r>
              <a:rPr lang="en-US" sz="1200" b="1" dirty="0">
                <a:solidFill>
                  <a:srgbClr val="666666"/>
                </a:solidFill>
                <a:latin typeface="Arial" pitchFamily="34" charset="0"/>
                <a:ea typeface="Arial" pitchFamily="34" charset="-122"/>
                <a:cs typeface="Arial" pitchFamily="34" charset="-120"/>
              </a:rPr>
              <a:t>api.py</a:t>
            </a:r>
            <a:endParaRPr lang="en-US" sz="1200" dirty="0"/>
          </a:p>
        </p:txBody>
      </p:sp>
      <p:sp>
        <p:nvSpPr>
          <p:cNvPr id="11" name="Shape 9"/>
          <p:cNvSpPr/>
          <p:nvPr/>
        </p:nvSpPr>
        <p:spPr>
          <a:xfrm>
            <a:off x="5842000" y="2222500"/>
            <a:ext cx="2032000" cy="1016000"/>
          </a:xfrm>
          <a:prstGeom prst="rect">
            <a:avLst/>
          </a:prstGeom>
          <a:solidFill>
            <a:srgbClr val="111111"/>
          </a:solidFill>
          <a:ln w="31750">
            <a:solidFill>
              <a:srgbClr val="111111"/>
            </a:solidFill>
            <a:prstDash val="solid"/>
          </a:ln>
        </p:spPr>
      </p:sp>
      <p:sp>
        <p:nvSpPr>
          <p:cNvPr id="12" name="Text 10"/>
          <p:cNvSpPr txBox="1"/>
          <p:nvPr/>
        </p:nvSpPr>
        <p:spPr>
          <a:xfrm>
            <a:off x="5842000" y="2336800"/>
            <a:ext cx="2032000" cy="444500"/>
          </a:xfrm>
          <a:prstGeom prst="rect">
            <a:avLst/>
          </a:prstGeom>
          <a:noFill/>
          <a:ln/>
        </p:spPr>
        <p:txBody>
          <a:bodyPr wrap="square" lIns="0" tIns="0" rIns="0" bIns="0" rtlCol="0" anchor="ctr"/>
          <a:lstStyle/>
          <a:p>
            <a:pPr algn="ctr" indent="0" marL="0">
              <a:buNone/>
            </a:pPr>
            <a:r>
              <a:rPr lang="en-US" sz="1900" dirty="0">
                <a:solidFill>
                  <a:srgbClr val="FFFFFF"/>
                </a:solidFill>
                <a:latin typeface="Arial Black" pitchFamily="34" charset="0"/>
                <a:ea typeface="Arial Black" pitchFamily="34" charset="-122"/>
                <a:cs typeface="Arial Black" pitchFamily="34" charset="-120"/>
              </a:rPr>
              <a:t>Service</a:t>
            </a:r>
            <a:endParaRPr lang="en-US" sz="1900" dirty="0"/>
          </a:p>
        </p:txBody>
      </p:sp>
      <p:sp>
        <p:nvSpPr>
          <p:cNvPr id="13" name="Text 11"/>
          <p:cNvSpPr txBox="1"/>
          <p:nvPr/>
        </p:nvSpPr>
        <p:spPr>
          <a:xfrm>
            <a:off x="5842000" y="2794000"/>
            <a:ext cx="2032000" cy="254000"/>
          </a:xfrm>
          <a:prstGeom prst="rect">
            <a:avLst/>
          </a:prstGeom>
          <a:noFill/>
          <a:ln/>
        </p:spPr>
        <p:txBody>
          <a:bodyPr wrap="square" lIns="0" tIns="0" rIns="0" bIns="0" rtlCol="0" anchor="ctr"/>
          <a:lstStyle/>
          <a:p>
            <a:pPr algn="ctr" indent="0" marL="0">
              <a:buNone/>
            </a:pPr>
            <a:r>
              <a:rPr lang="en-US" sz="1200" b="1" dirty="0">
                <a:solidFill>
                  <a:srgbClr val="CCCCCC"/>
                </a:solidFill>
                <a:latin typeface="Arial" pitchFamily="34" charset="0"/>
                <a:ea typeface="Arial" pitchFamily="34" charset="-122"/>
                <a:cs typeface="Arial" pitchFamily="34" charset="-120"/>
              </a:rPr>
              <a:t>service.py</a:t>
            </a:r>
            <a:endParaRPr lang="en-US" sz="1200" dirty="0"/>
          </a:p>
        </p:txBody>
      </p:sp>
      <p:sp>
        <p:nvSpPr>
          <p:cNvPr id="14" name="Shape 12"/>
          <p:cNvSpPr/>
          <p:nvPr/>
        </p:nvSpPr>
        <p:spPr>
          <a:xfrm>
            <a:off x="2921000" y="2730500"/>
            <a:ext cx="495300" cy="0"/>
          </a:xfrm>
          <a:prstGeom prst="line">
            <a:avLst/>
          </a:prstGeom>
          <a:noFill/>
          <a:ln w="31750">
            <a:solidFill>
              <a:srgbClr val="111111"/>
            </a:solidFill>
            <a:prstDash val="solid"/>
            <a:tailEnd type="triangle"/>
          </a:ln>
        </p:spPr>
      </p:sp>
      <p:sp>
        <p:nvSpPr>
          <p:cNvPr id="15" name="Shape 13"/>
          <p:cNvSpPr/>
          <p:nvPr/>
        </p:nvSpPr>
        <p:spPr>
          <a:xfrm>
            <a:off x="5334000" y="2730500"/>
            <a:ext cx="495300" cy="0"/>
          </a:xfrm>
          <a:prstGeom prst="line">
            <a:avLst/>
          </a:prstGeom>
          <a:noFill/>
          <a:ln w="31750">
            <a:solidFill>
              <a:srgbClr val="111111"/>
            </a:solidFill>
            <a:prstDash val="solid"/>
            <a:tailEnd type="triangle"/>
          </a:ln>
        </p:spPr>
      </p:sp>
      <p:sp>
        <p:nvSpPr>
          <p:cNvPr id="16" name="Shape 14"/>
          <p:cNvSpPr/>
          <p:nvPr/>
        </p:nvSpPr>
        <p:spPr>
          <a:xfrm>
            <a:off x="7874000" y="2730500"/>
            <a:ext cx="368300" cy="0"/>
          </a:xfrm>
          <a:prstGeom prst="line">
            <a:avLst/>
          </a:prstGeom>
          <a:noFill/>
          <a:ln w="31750">
            <a:solidFill>
              <a:srgbClr val="111111"/>
            </a:solidFill>
            <a:prstDash val="solid"/>
            <a:tailEnd type="triangle"/>
          </a:ln>
        </p:spPr>
      </p:sp>
      <p:sp>
        <p:nvSpPr>
          <p:cNvPr id="17" name="Shape 15"/>
          <p:cNvSpPr/>
          <p:nvPr/>
        </p:nvSpPr>
        <p:spPr>
          <a:xfrm>
            <a:off x="8255000" y="2159000"/>
            <a:ext cx="2921000" cy="2730500"/>
          </a:xfrm>
          <a:prstGeom prst="rect">
            <a:avLst/>
          </a:prstGeom>
          <a:solidFill>
            <a:srgbClr val="FFFFFF"/>
          </a:solidFill>
          <a:ln w="44450">
            <a:solidFill>
              <a:srgbClr val="E63312"/>
            </a:solidFill>
            <a:prstDash val="solid"/>
          </a:ln>
        </p:spPr>
      </p:sp>
      <p:sp>
        <p:nvSpPr>
          <p:cNvPr id="18" name="Text 16"/>
          <p:cNvSpPr txBox="1"/>
          <p:nvPr/>
        </p:nvSpPr>
        <p:spPr>
          <a:xfrm>
            <a:off x="8470900" y="2349500"/>
            <a:ext cx="2540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RULE ENGINE · DECIDES</a:t>
            </a:r>
            <a:endParaRPr lang="en-US" sz="1100" dirty="0"/>
          </a:p>
        </p:txBody>
      </p:sp>
      <p:sp>
        <p:nvSpPr>
          <p:cNvPr id="19" name="Text 17"/>
          <p:cNvSpPr txBox="1"/>
          <p:nvPr/>
        </p:nvSpPr>
        <p:spPr>
          <a:xfrm>
            <a:off x="8470900" y="2667000"/>
            <a:ext cx="1841500" cy="46990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1 Identify drugs</a:t>
            </a:r>
            <a:endParaRPr lang="en-US" sz="1300" dirty="0"/>
          </a:p>
        </p:txBody>
      </p:sp>
      <p:sp>
        <p:nvSpPr>
          <p:cNvPr id="20" name="Text 18"/>
          <p:cNvSpPr txBox="1"/>
          <p:nvPr/>
        </p:nvSpPr>
        <p:spPr>
          <a:xfrm>
            <a:off x="10096500" y="2667000"/>
            <a:ext cx="952500" cy="469900"/>
          </a:xfrm>
          <a:prstGeom prst="rect">
            <a:avLst/>
          </a:prstGeom>
          <a:noFill/>
          <a:ln/>
        </p:spPr>
        <p:txBody>
          <a:bodyPr wrap="square" lIns="0" tIns="0" rIns="0" bIns="0" rtlCol="0" anchor="ctr"/>
          <a:lstStyle/>
          <a:p>
            <a:pPr algn="r" indent="0" marL="0">
              <a:buNone/>
            </a:pPr>
            <a:r>
              <a:rPr lang="en-US" sz="1000" b="1" dirty="0">
                <a:solidFill>
                  <a:srgbClr val="666666"/>
                </a:solidFill>
                <a:latin typeface="Arial" pitchFamily="34" charset="0"/>
                <a:ea typeface="Arial" pitchFamily="34" charset="-122"/>
                <a:cs typeface="Arial" pitchFamily="34" charset="-120"/>
              </a:rPr>
              <a:t>intake.py</a:t>
            </a:r>
            <a:endParaRPr lang="en-US" sz="1000" dirty="0"/>
          </a:p>
        </p:txBody>
      </p:sp>
      <p:sp>
        <p:nvSpPr>
          <p:cNvPr id="21" name="Shape 19"/>
          <p:cNvSpPr/>
          <p:nvPr/>
        </p:nvSpPr>
        <p:spPr>
          <a:xfrm>
            <a:off x="8470900" y="3162300"/>
            <a:ext cx="2489200" cy="0"/>
          </a:xfrm>
          <a:prstGeom prst="line">
            <a:avLst/>
          </a:prstGeom>
          <a:noFill/>
          <a:ln w="12700">
            <a:solidFill>
              <a:srgbClr val="D8D8D4"/>
            </a:solidFill>
            <a:prstDash val="solid"/>
          </a:ln>
        </p:spPr>
      </p:sp>
      <p:sp>
        <p:nvSpPr>
          <p:cNvPr id="22" name="Text 20"/>
          <p:cNvSpPr txBox="1"/>
          <p:nvPr/>
        </p:nvSpPr>
        <p:spPr>
          <a:xfrm>
            <a:off x="8470900" y="3187700"/>
            <a:ext cx="1841500" cy="46990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2 Evaluate episode</a:t>
            </a:r>
            <a:endParaRPr lang="en-US" sz="1300" dirty="0"/>
          </a:p>
        </p:txBody>
      </p:sp>
      <p:sp>
        <p:nvSpPr>
          <p:cNvPr id="23" name="Text 21"/>
          <p:cNvSpPr txBox="1"/>
          <p:nvPr/>
        </p:nvSpPr>
        <p:spPr>
          <a:xfrm>
            <a:off x="10096500" y="3187700"/>
            <a:ext cx="952500" cy="469900"/>
          </a:xfrm>
          <a:prstGeom prst="rect">
            <a:avLst/>
          </a:prstGeom>
          <a:noFill/>
          <a:ln/>
        </p:spPr>
        <p:txBody>
          <a:bodyPr wrap="square" lIns="0" tIns="0" rIns="0" bIns="0" rtlCol="0" anchor="ctr"/>
          <a:lstStyle/>
          <a:p>
            <a:pPr algn="r" indent="0" marL="0">
              <a:buNone/>
            </a:pPr>
            <a:r>
              <a:rPr lang="en-US" sz="1000" b="1" dirty="0">
                <a:solidFill>
                  <a:srgbClr val="666666"/>
                </a:solidFill>
                <a:latin typeface="Arial" pitchFamily="34" charset="0"/>
                <a:ea typeface="Arial" pitchFamily="34" charset="-122"/>
                <a:cs typeface="Arial" pitchFamily="34" charset="-120"/>
              </a:rPr>
              <a:t>episode.py</a:t>
            </a:r>
            <a:endParaRPr lang="en-US" sz="1000" dirty="0"/>
          </a:p>
        </p:txBody>
      </p:sp>
      <p:sp>
        <p:nvSpPr>
          <p:cNvPr id="24" name="Shape 22"/>
          <p:cNvSpPr/>
          <p:nvPr/>
        </p:nvSpPr>
        <p:spPr>
          <a:xfrm>
            <a:off x="8470900" y="3683000"/>
            <a:ext cx="2489200" cy="0"/>
          </a:xfrm>
          <a:prstGeom prst="line">
            <a:avLst/>
          </a:prstGeom>
          <a:noFill/>
          <a:ln w="12700">
            <a:solidFill>
              <a:srgbClr val="D8D8D4"/>
            </a:solidFill>
            <a:prstDash val="solid"/>
          </a:ln>
        </p:spPr>
      </p:sp>
      <p:sp>
        <p:nvSpPr>
          <p:cNvPr id="25" name="Text 23"/>
          <p:cNvSpPr txBox="1"/>
          <p:nvPr/>
        </p:nvSpPr>
        <p:spPr>
          <a:xfrm>
            <a:off x="8470900" y="3708400"/>
            <a:ext cx="1841500" cy="46990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3 Run rules</a:t>
            </a:r>
            <a:endParaRPr lang="en-US" sz="1300" dirty="0"/>
          </a:p>
        </p:txBody>
      </p:sp>
      <p:sp>
        <p:nvSpPr>
          <p:cNvPr id="26" name="Text 24"/>
          <p:cNvSpPr txBox="1"/>
          <p:nvPr/>
        </p:nvSpPr>
        <p:spPr>
          <a:xfrm>
            <a:off x="10096500" y="3708400"/>
            <a:ext cx="952500" cy="469900"/>
          </a:xfrm>
          <a:prstGeom prst="rect">
            <a:avLst/>
          </a:prstGeom>
          <a:noFill/>
          <a:ln/>
        </p:spPr>
        <p:txBody>
          <a:bodyPr wrap="square" lIns="0" tIns="0" rIns="0" bIns="0" rtlCol="0" anchor="ctr"/>
          <a:lstStyle/>
          <a:p>
            <a:pPr algn="r" indent="0" marL="0">
              <a:buNone/>
            </a:pPr>
            <a:r>
              <a:rPr lang="en-US" sz="1000" b="1" dirty="0">
                <a:solidFill>
                  <a:srgbClr val="666666"/>
                </a:solidFill>
                <a:latin typeface="Arial" pitchFamily="34" charset="0"/>
                <a:ea typeface="Arial" pitchFamily="34" charset="-122"/>
                <a:cs typeface="Arial" pitchFamily="34" charset="-120"/>
              </a:rPr>
              <a:t>rules.py</a:t>
            </a:r>
            <a:endParaRPr lang="en-US" sz="1000" dirty="0"/>
          </a:p>
        </p:txBody>
      </p:sp>
      <p:sp>
        <p:nvSpPr>
          <p:cNvPr id="27" name="Shape 25"/>
          <p:cNvSpPr/>
          <p:nvPr/>
        </p:nvSpPr>
        <p:spPr>
          <a:xfrm>
            <a:off x="8470900" y="4203700"/>
            <a:ext cx="2489200" cy="0"/>
          </a:xfrm>
          <a:prstGeom prst="line">
            <a:avLst/>
          </a:prstGeom>
          <a:noFill/>
          <a:ln w="12700">
            <a:solidFill>
              <a:srgbClr val="D8D8D4"/>
            </a:solidFill>
            <a:prstDash val="solid"/>
          </a:ln>
        </p:spPr>
      </p:sp>
      <p:sp>
        <p:nvSpPr>
          <p:cNvPr id="28" name="Text 26"/>
          <p:cNvSpPr txBox="1"/>
          <p:nvPr/>
        </p:nvSpPr>
        <p:spPr>
          <a:xfrm>
            <a:off x="8470900" y="4229100"/>
            <a:ext cx="1841500" cy="46990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4 Findings + evidence</a:t>
            </a:r>
            <a:endParaRPr lang="en-US" sz="1300" dirty="0"/>
          </a:p>
        </p:txBody>
      </p:sp>
      <p:sp>
        <p:nvSpPr>
          <p:cNvPr id="29" name="Text 27"/>
          <p:cNvSpPr txBox="1"/>
          <p:nvPr/>
        </p:nvSpPr>
        <p:spPr>
          <a:xfrm>
            <a:off x="10096500" y="4229100"/>
            <a:ext cx="952500" cy="469900"/>
          </a:xfrm>
          <a:prstGeom prst="rect">
            <a:avLst/>
          </a:prstGeom>
          <a:noFill/>
          <a:ln/>
        </p:spPr>
        <p:txBody>
          <a:bodyPr wrap="square" lIns="0" tIns="0" rIns="0" bIns="0" rtlCol="0" anchor="ctr"/>
          <a:lstStyle/>
          <a:p>
            <a:pPr algn="r" indent="0" marL="0">
              <a:buNone/>
            </a:pPr>
            <a:r>
              <a:rPr lang="en-US" sz="1000" b="1" dirty="0">
                <a:solidFill>
                  <a:srgbClr val="666666"/>
                </a:solidFill>
                <a:latin typeface="Arial" pitchFamily="34" charset="0"/>
                <a:ea typeface="Arial" pitchFamily="34" charset="-122"/>
                <a:cs typeface="Arial" pitchFamily="34" charset="-120"/>
              </a:rPr>
              <a:t>evidence.py</a:t>
            </a:r>
            <a:endParaRPr lang="en-US" sz="1000" dirty="0"/>
          </a:p>
        </p:txBody>
      </p:sp>
      <p:sp>
        <p:nvSpPr>
          <p:cNvPr id="30" name="Shape 28"/>
          <p:cNvSpPr/>
          <p:nvPr/>
        </p:nvSpPr>
        <p:spPr>
          <a:xfrm flipH="1">
            <a:off x="2413000" y="4572000"/>
            <a:ext cx="5842000" cy="0"/>
          </a:xfrm>
          <a:prstGeom prst="line">
            <a:avLst/>
          </a:prstGeom>
          <a:noFill/>
          <a:ln w="31750">
            <a:solidFill>
              <a:srgbClr val="E63312"/>
            </a:solidFill>
            <a:prstDash val="solid"/>
          </a:ln>
        </p:spPr>
      </p:sp>
      <p:sp>
        <p:nvSpPr>
          <p:cNvPr id="31" name="Shape 29"/>
          <p:cNvSpPr/>
          <p:nvPr/>
        </p:nvSpPr>
        <p:spPr>
          <a:xfrm flipV="1">
            <a:off x="2413000" y="3263900"/>
            <a:ext cx="0" cy="1308100"/>
          </a:xfrm>
          <a:prstGeom prst="line">
            <a:avLst/>
          </a:prstGeom>
          <a:noFill/>
          <a:ln w="31750">
            <a:solidFill>
              <a:srgbClr val="E63312"/>
            </a:solidFill>
            <a:prstDash val="solid"/>
            <a:tailEnd type="triangle"/>
          </a:ln>
        </p:spPr>
      </p:sp>
      <p:sp>
        <p:nvSpPr>
          <p:cNvPr id="32" name="Text 30"/>
          <p:cNvSpPr txBox="1"/>
          <p:nvPr/>
        </p:nvSpPr>
        <p:spPr>
          <a:xfrm>
            <a:off x="3556000" y="4241800"/>
            <a:ext cx="3810000" cy="279400"/>
          </a:xfrm>
          <a:prstGeom prst="rect">
            <a:avLst/>
          </a:prstGeom>
          <a:noFill/>
          <a:ln/>
        </p:spPr>
        <p:txBody>
          <a:bodyPr wrap="square" lIns="0" tIns="0" rIns="0" bIns="0" rtlCol="0" anchor="t"/>
          <a:lstStyle/>
          <a:p>
            <a:pPr indent="0" marL="0">
              <a:buNone/>
            </a:pPr>
            <a:r>
              <a:rPr lang="en-US" sz="1300" b="1" i="1" dirty="0">
                <a:solidFill>
                  <a:srgbClr val="E63312"/>
                </a:solidFill>
                <a:latin typeface="Arial" pitchFamily="34" charset="0"/>
                <a:ea typeface="Arial" pitchFamily="34" charset="-122"/>
                <a:cs typeface="Arial" pitchFamily="34" charset="-120"/>
              </a:rPr>
              <a:t>findings back to the browser</a:t>
            </a:r>
            <a:endParaRPr lang="en-US" sz="1300" dirty="0"/>
          </a:p>
        </p:txBody>
      </p:sp>
      <p:sp>
        <p:nvSpPr>
          <p:cNvPr id="33" name="Shape 31"/>
          <p:cNvSpPr/>
          <p:nvPr/>
        </p:nvSpPr>
        <p:spPr>
          <a:xfrm>
            <a:off x="1460500" y="3238500"/>
            <a:ext cx="0" cy="2070100"/>
          </a:xfrm>
          <a:prstGeom prst="line">
            <a:avLst/>
          </a:prstGeom>
          <a:noFill/>
          <a:ln w="31750">
            <a:solidFill>
              <a:srgbClr val="111111"/>
            </a:solidFill>
            <a:prstDash val="solid"/>
            <a:tailEnd type="triangle"/>
          </a:ln>
        </p:spPr>
      </p:sp>
      <p:sp>
        <p:nvSpPr>
          <p:cNvPr id="34" name="Shape 32"/>
          <p:cNvSpPr/>
          <p:nvPr/>
        </p:nvSpPr>
        <p:spPr>
          <a:xfrm>
            <a:off x="9715500" y="4889500"/>
            <a:ext cx="0" cy="419100"/>
          </a:xfrm>
          <a:prstGeom prst="line">
            <a:avLst/>
          </a:prstGeom>
          <a:noFill/>
          <a:ln w="31750">
            <a:solidFill>
              <a:srgbClr val="111111"/>
            </a:solidFill>
            <a:prstDash val="dash"/>
            <a:tailEnd type="triangle"/>
          </a:ln>
        </p:spPr>
      </p:sp>
      <p:sp>
        <p:nvSpPr>
          <p:cNvPr id="35" name="Shape 33"/>
          <p:cNvSpPr/>
          <p:nvPr/>
        </p:nvSpPr>
        <p:spPr>
          <a:xfrm>
            <a:off x="1016000" y="5334000"/>
            <a:ext cx="6858000" cy="952500"/>
          </a:xfrm>
          <a:prstGeom prst="rect">
            <a:avLst/>
          </a:prstGeom>
          <a:solidFill>
            <a:srgbClr val="F1F1EE"/>
          </a:solidFill>
          <a:ln/>
        </p:spPr>
      </p:sp>
      <p:sp>
        <p:nvSpPr>
          <p:cNvPr id="36" name="Text 34"/>
          <p:cNvSpPr txBox="1"/>
          <p:nvPr/>
        </p:nvSpPr>
        <p:spPr>
          <a:xfrm>
            <a:off x="1231900" y="5473700"/>
            <a:ext cx="3810000" cy="190500"/>
          </a:xfrm>
          <a:prstGeom prst="rect">
            <a:avLst/>
          </a:prstGeom>
          <a:noFill/>
          <a:ln/>
        </p:spPr>
        <p:txBody>
          <a:bodyPr wrap="square" lIns="0" tIns="0" rIns="0" bIns="0" rtlCol="0" anchor="t"/>
          <a:lstStyle/>
          <a:p>
            <a:pPr indent="0" marL="0">
              <a:buNone/>
            </a:pPr>
            <a:r>
              <a:rPr lang="en-US" sz="1100" b="1" spc="300" kern="0" dirty="0">
                <a:solidFill>
                  <a:srgbClr val="666666"/>
                </a:solidFill>
                <a:latin typeface="Arial" pitchFamily="34" charset="0"/>
                <a:ea typeface="Arial" pitchFamily="34" charset="-122"/>
                <a:cs typeface="Arial" pitchFamily="34" charset="-120"/>
              </a:rPr>
              <a:t>PHARMACIST</a:t>
            </a:r>
            <a:endParaRPr lang="en-US" sz="1100" dirty="0"/>
          </a:p>
        </p:txBody>
      </p:sp>
      <p:sp>
        <p:nvSpPr>
          <p:cNvPr id="37" name="Text 35"/>
          <p:cNvSpPr txBox="1"/>
          <p:nvPr/>
        </p:nvSpPr>
        <p:spPr>
          <a:xfrm>
            <a:off x="1231900" y="5746750"/>
            <a:ext cx="6350000" cy="444500"/>
          </a:xfrm>
          <a:prstGeom prst="rect">
            <a:avLst/>
          </a:prstGeom>
          <a:noFill/>
          <a:ln/>
        </p:spPr>
        <p:txBody>
          <a:bodyPr wrap="square" lIns="0" tIns="0" rIns="0" bIns="0" rtlCol="0" anchor="ctr"/>
          <a:lstStyle/>
          <a:p>
            <a:pPr indent="0" marL="0">
              <a:buNone/>
            </a:pPr>
            <a:r>
              <a:rPr lang="en-US" sz="1900" dirty="0">
                <a:solidFill>
                  <a:srgbClr val="111111"/>
                </a:solidFill>
                <a:latin typeface="Arial Black" pitchFamily="34" charset="0"/>
                <a:ea typeface="Arial Black" pitchFamily="34" charset="-122"/>
                <a:cs typeface="Arial Black" pitchFamily="34" charset="-120"/>
              </a:rPr>
              <a:t>Review   </a:t>
            </a:r>
            <a:pPr indent="0" marL="0">
              <a:buNone/>
            </a:pPr>
            <a:r>
              <a:rPr lang="en-US" sz="1900" dirty="0">
                <a:solidFill>
                  <a:srgbClr val="666666"/>
                </a:solidFill>
                <a:latin typeface="Arial Black" pitchFamily="34" charset="0"/>
                <a:ea typeface="Arial Black" pitchFamily="34" charset="-122"/>
                <a:cs typeface="Arial Black" pitchFamily="34" charset="-120"/>
              </a:rPr>
              <a:t>→</a:t>
            </a:r>
            <a:pPr indent="0" marL="0">
              <a:buNone/>
            </a:pPr>
            <a:r>
              <a:rPr lang="en-US" sz="1900" dirty="0">
                <a:solidFill>
                  <a:srgbClr val="111111"/>
                </a:solidFill>
                <a:latin typeface="Arial Black" pitchFamily="34" charset="0"/>
                <a:ea typeface="Arial Black" pitchFamily="34" charset="-122"/>
                <a:cs typeface="Arial Black" pitchFamily="34" charset="-120"/>
              </a:rPr>
              <a:t>   Sign plan   </a:t>
            </a:r>
            <a:pPr indent="0" marL="0">
              <a:buNone/>
            </a:pPr>
            <a:r>
              <a:rPr lang="en-US" sz="1900" dirty="0">
                <a:solidFill>
                  <a:srgbClr val="666666"/>
                </a:solidFill>
                <a:latin typeface="Arial Black" pitchFamily="34" charset="0"/>
                <a:ea typeface="Arial Black" pitchFamily="34" charset="-122"/>
                <a:cs typeface="Arial Black" pitchFamily="34" charset="-120"/>
              </a:rPr>
              <a:t>→</a:t>
            </a:r>
            <a:pPr indent="0" marL="0">
              <a:buNone/>
            </a:pPr>
            <a:r>
              <a:rPr lang="en-US" sz="1900" dirty="0">
                <a:solidFill>
                  <a:srgbClr val="111111"/>
                </a:solidFill>
                <a:latin typeface="Arial Black" pitchFamily="34" charset="0"/>
                <a:ea typeface="Arial Black" pitchFamily="34" charset="-122"/>
                <a:cs typeface="Arial Black" pitchFamily="34" charset="-120"/>
              </a:rPr>
              <a:t>   Audit log</a:t>
            </a:r>
            <a:endParaRPr lang="en-US" sz="1900" dirty="0"/>
          </a:p>
        </p:txBody>
      </p:sp>
      <p:sp>
        <p:nvSpPr>
          <p:cNvPr id="38" name="Shape 36"/>
          <p:cNvSpPr/>
          <p:nvPr/>
        </p:nvSpPr>
        <p:spPr>
          <a:xfrm>
            <a:off x="8255000" y="5334000"/>
            <a:ext cx="2921000" cy="952500"/>
          </a:xfrm>
          <a:prstGeom prst="rect">
            <a:avLst/>
          </a:prstGeom>
          <a:solidFill>
            <a:srgbClr val="FFFFFF"/>
          </a:solidFill>
          <a:ln w="31750">
            <a:solidFill>
              <a:srgbClr val="111111"/>
            </a:solidFill>
            <a:prstDash val="dash"/>
          </a:ln>
        </p:spPr>
      </p:sp>
      <p:sp>
        <p:nvSpPr>
          <p:cNvPr id="39" name="Text 37"/>
          <p:cNvSpPr txBox="1"/>
          <p:nvPr/>
        </p:nvSpPr>
        <p:spPr>
          <a:xfrm>
            <a:off x="8470900" y="5473700"/>
            <a:ext cx="2540000" cy="190500"/>
          </a:xfrm>
          <a:prstGeom prst="rect">
            <a:avLst/>
          </a:prstGeom>
          <a:noFill/>
          <a:ln/>
        </p:spPr>
        <p:txBody>
          <a:bodyPr wrap="square" lIns="0" tIns="0" rIns="0" bIns="0" rtlCol="0" anchor="t"/>
          <a:lstStyle/>
          <a:p>
            <a:pPr indent="0" marL="0">
              <a:buNone/>
            </a:pPr>
            <a:r>
              <a:rPr lang="en-US" sz="1100" b="1" spc="300" kern="0" dirty="0">
                <a:solidFill>
                  <a:srgbClr val="666666"/>
                </a:solidFill>
                <a:latin typeface="Arial" pitchFamily="34" charset="0"/>
                <a:ea typeface="Arial" pitchFamily="34" charset="-122"/>
                <a:cs typeface="Arial" pitchFamily="34" charset="-120"/>
              </a:rPr>
              <a:t>OPTIONAL AI</a:t>
            </a:r>
            <a:endParaRPr lang="en-US" sz="1100" dirty="0"/>
          </a:p>
        </p:txBody>
      </p:sp>
      <p:sp>
        <p:nvSpPr>
          <p:cNvPr id="40" name="Text 38"/>
          <p:cNvSpPr txBox="1"/>
          <p:nvPr/>
        </p:nvSpPr>
        <p:spPr>
          <a:xfrm>
            <a:off x="8470900" y="5715000"/>
            <a:ext cx="2540000" cy="508000"/>
          </a:xfrm>
          <a:prstGeom prst="rect">
            <a:avLst/>
          </a:prstGeom>
          <a:noFill/>
          <a:ln/>
        </p:spPr>
        <p:txBody>
          <a:bodyPr wrap="square" lIns="0" tIns="0" rIns="0" bIns="0" rtlCol="0" anchor="ctr"/>
          <a:lstStyle/>
          <a:p>
            <a:pPr indent="0" marL="0">
              <a:buNone/>
            </a:pPr>
            <a:r>
              <a:rPr lang="en-US" sz="1300" dirty="0">
                <a:solidFill>
                  <a:srgbClr val="111111"/>
                </a:solidFill>
                <a:latin typeface="Arial Black" pitchFamily="34" charset="0"/>
                <a:ea typeface="Arial Black" pitchFamily="34" charset="-122"/>
                <a:cs typeface="Arial Black" pitchFamily="34" charset="-120"/>
              </a:rPr>
              <a:t>Rewords the findings. Cannot change them.</a:t>
            </a:r>
            <a:endParaRPr lang="en-US" sz="13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07 · SYSTEM ARCHITECTURE · AI SAFEGUARDS</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The AI can reword, not decide</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07</a:t>
            </a:r>
            <a:endParaRPr lang="en-US" sz="5500" dirty="0"/>
          </a:p>
        </p:txBody>
      </p:sp>
      <p:sp>
        <p:nvSpPr>
          <p:cNvPr id="5" name="Shape 3"/>
          <p:cNvSpPr/>
          <p:nvPr/>
        </p:nvSpPr>
        <p:spPr>
          <a:xfrm>
            <a:off x="1016000" y="2286000"/>
            <a:ext cx="4953000" cy="1905000"/>
          </a:xfrm>
          <a:prstGeom prst="rect">
            <a:avLst/>
          </a:prstGeom>
          <a:solidFill>
            <a:srgbClr val="111111"/>
          </a:solidFill>
          <a:ln/>
        </p:spPr>
      </p:sp>
      <p:sp>
        <p:nvSpPr>
          <p:cNvPr id="6" name="Text 4"/>
          <p:cNvSpPr txBox="1"/>
          <p:nvPr/>
        </p:nvSpPr>
        <p:spPr>
          <a:xfrm>
            <a:off x="1333500" y="2565400"/>
            <a:ext cx="4318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RULE ENGINE</a:t>
            </a:r>
            <a:endParaRPr lang="en-US" sz="1100" dirty="0"/>
          </a:p>
        </p:txBody>
      </p:sp>
      <p:sp>
        <p:nvSpPr>
          <p:cNvPr id="7" name="Text 5"/>
          <p:cNvSpPr txBox="1"/>
          <p:nvPr/>
        </p:nvSpPr>
        <p:spPr>
          <a:xfrm>
            <a:off x="1333500" y="2857500"/>
            <a:ext cx="4381500" cy="1143000"/>
          </a:xfrm>
          <a:prstGeom prst="rect">
            <a:avLst/>
          </a:prstGeom>
          <a:noFill/>
          <a:ln/>
        </p:spPr>
        <p:txBody>
          <a:bodyPr wrap="square" lIns="0" tIns="0" rIns="0" bIns="0" rtlCol="0" anchor="t"/>
          <a:lstStyle/>
          <a:p>
            <a:pPr indent="0" marL="0">
              <a:buNone/>
            </a:pPr>
            <a:r>
              <a:rPr lang="en-US" sz="2200" dirty="0">
                <a:solidFill>
                  <a:srgbClr val="FFFFFF"/>
                </a:solidFill>
                <a:latin typeface="Arial Black" pitchFamily="34" charset="0"/>
                <a:ea typeface="Arial Black" pitchFamily="34" charset="-122"/>
                <a:cs typeface="Arial Black" pitchFamily="34" charset="-120"/>
              </a:rPr>
              <a:t>Decides every finding, severity, action and citation.</a:t>
            </a:r>
            <a:endParaRPr lang="en-US" sz="2200" dirty="0"/>
          </a:p>
        </p:txBody>
      </p:sp>
      <p:sp>
        <p:nvSpPr>
          <p:cNvPr id="8" name="Shape 6"/>
          <p:cNvSpPr/>
          <p:nvPr/>
        </p:nvSpPr>
        <p:spPr>
          <a:xfrm>
            <a:off x="6223000" y="2286000"/>
            <a:ext cx="4953000" cy="1905000"/>
          </a:xfrm>
          <a:prstGeom prst="rect">
            <a:avLst/>
          </a:prstGeom>
          <a:solidFill>
            <a:srgbClr val="FFFFFF"/>
          </a:solidFill>
          <a:ln w="31750">
            <a:solidFill>
              <a:srgbClr val="111111"/>
            </a:solidFill>
            <a:prstDash val="dash"/>
          </a:ln>
        </p:spPr>
      </p:sp>
      <p:sp>
        <p:nvSpPr>
          <p:cNvPr id="9" name="Text 7"/>
          <p:cNvSpPr txBox="1"/>
          <p:nvPr/>
        </p:nvSpPr>
        <p:spPr>
          <a:xfrm>
            <a:off x="6540500" y="2565400"/>
            <a:ext cx="4318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OPTIONAL LLM</a:t>
            </a:r>
            <a:endParaRPr lang="en-US" sz="1100" dirty="0"/>
          </a:p>
        </p:txBody>
      </p:sp>
      <p:sp>
        <p:nvSpPr>
          <p:cNvPr id="10" name="Text 8"/>
          <p:cNvSpPr txBox="1"/>
          <p:nvPr/>
        </p:nvSpPr>
        <p:spPr>
          <a:xfrm>
            <a:off x="6540500" y="2857500"/>
            <a:ext cx="4381500" cy="1143000"/>
          </a:xfrm>
          <a:prstGeom prst="rect">
            <a:avLst/>
          </a:prstGeom>
          <a:noFill/>
          <a:ln/>
        </p:spPr>
        <p:txBody>
          <a:bodyPr wrap="square" lIns="0" tIns="0" rIns="0" bIns="0" rtlCol="0" anchor="t"/>
          <a:lstStyle/>
          <a:p>
            <a:pPr indent="0" marL="0">
              <a:buNone/>
            </a:pPr>
            <a:r>
              <a:rPr lang="en-US" sz="2200" dirty="0">
                <a:solidFill>
                  <a:srgbClr val="111111"/>
                </a:solidFill>
                <a:latin typeface="Arial Black" pitchFamily="34" charset="0"/>
                <a:ea typeface="Arial Black" pitchFamily="34" charset="-122"/>
                <a:cs typeface="Arial Black" pitchFamily="34" charset="-120"/>
              </a:rPr>
              <a:t>Rewords the finished results and answers questions.</a:t>
            </a:r>
            <a:endParaRPr lang="en-US" sz="2200" dirty="0"/>
          </a:p>
        </p:txBody>
      </p:sp>
      <p:sp>
        <p:nvSpPr>
          <p:cNvPr id="11" name="Text 9"/>
          <p:cNvSpPr txBox="1"/>
          <p:nvPr/>
        </p:nvSpPr>
        <p:spPr>
          <a:xfrm>
            <a:off x="1016000" y="4508500"/>
            <a:ext cx="10160000" cy="190500"/>
          </a:xfrm>
          <a:prstGeom prst="rect">
            <a:avLst/>
          </a:prstGeom>
          <a:noFill/>
          <a:ln/>
        </p:spPr>
        <p:txBody>
          <a:bodyPr wrap="square" lIns="0" tIns="0" rIns="0" bIns="0" rtlCol="0" anchor="t"/>
          <a:lstStyle/>
          <a:p>
            <a:pPr indent="0" marL="0">
              <a:buNone/>
            </a:pPr>
            <a:r>
              <a:rPr lang="en-US" sz="1100" b="1" spc="300" kern="0" dirty="0">
                <a:solidFill>
                  <a:srgbClr val="E63312"/>
                </a:solidFill>
                <a:latin typeface="Arial" pitchFamily="34" charset="0"/>
                <a:ea typeface="Arial" pitchFamily="34" charset="-122"/>
                <a:cs typeface="Arial" pitchFamily="34" charset="-120"/>
              </a:rPr>
              <a:t>EVERY AI ANSWER IS CHECKED</a:t>
            </a:r>
            <a:endParaRPr lang="en-US" sz="1100" dirty="0"/>
          </a:p>
        </p:txBody>
      </p:sp>
      <p:sp>
        <p:nvSpPr>
          <p:cNvPr id="12" name="Text 10"/>
          <p:cNvSpPr txBox="1"/>
          <p:nvPr/>
        </p:nvSpPr>
        <p:spPr>
          <a:xfrm>
            <a:off x="1016000" y="4775200"/>
            <a:ext cx="10160000" cy="69850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Rejected if it adds a drug, number, source or action, or calls anything "safe". Then the rule-based text is shown instead.</a:t>
            </a:r>
            <a:endParaRPr lang="en-US" sz="1800" dirty="0"/>
          </a:p>
        </p:txBody>
      </p:sp>
      <p:sp>
        <p:nvSpPr>
          <p:cNvPr id="13" name="Text 11"/>
          <p:cNvSpPr txBox="1"/>
          <p:nvPr/>
        </p:nvSpPr>
        <p:spPr>
          <a:xfrm>
            <a:off x="1016000" y="5746750"/>
            <a:ext cx="10160000" cy="317500"/>
          </a:xfrm>
          <a:prstGeom prst="rect">
            <a:avLst/>
          </a:prstGeom>
          <a:noFill/>
          <a:ln/>
        </p:spPr>
        <p:txBody>
          <a:bodyPr wrap="square" lIns="0" tIns="0" rIns="0" bIns="0" rtlCol="0" anchor="ctr"/>
          <a:lstStyle/>
          <a:p>
            <a:pPr indent="0" marL="0">
              <a:buNone/>
            </a:pPr>
            <a:r>
              <a:rPr lang="en-US" sz="1600" b="1" dirty="0">
                <a:solidFill>
                  <a:srgbClr val="E63312"/>
                </a:solidFill>
                <a:latin typeface="Arial" pitchFamily="34" charset="0"/>
                <a:ea typeface="Arial" pitchFamily="34" charset="-122"/>
                <a:cs typeface="Arial" pitchFamily="34" charset="-120"/>
              </a:rPr>
              <a:t>Fallback: </a:t>
            </a:r>
            <a:pPr indent="0" marL="0">
              <a:buNone/>
            </a:pPr>
            <a:r>
              <a:rPr lang="en-US" sz="1600" b="1" dirty="0">
                <a:solidFill>
                  <a:srgbClr val="111111"/>
                </a:solidFill>
                <a:latin typeface="Arial" pitchFamily="34" charset="0"/>
                <a:ea typeface="Arial" pitchFamily="34" charset="-122"/>
                <a:cs typeface="Arial" pitchFamily="34" charset="-120"/>
              </a:rPr>
              <a:t>if a check fails or the AI is off, the rule-based summary is shown.</a:t>
            </a:r>
            <a:endParaRPr lang="en-US" sz="16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08 · TECHNICAL FEASIBILITY &amp; IMPLEMENTATION</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Built, tested, working end to end</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08</a:t>
            </a:r>
            <a:endParaRPr lang="en-US" sz="5500" dirty="0"/>
          </a:p>
        </p:txBody>
      </p:sp>
      <p:sp>
        <p:nvSpPr>
          <p:cNvPr id="5" name="Text 3"/>
          <p:cNvSpPr txBox="1"/>
          <p:nvPr/>
        </p:nvSpPr>
        <p:spPr>
          <a:xfrm>
            <a:off x="1016000" y="2095500"/>
            <a:ext cx="3302000" cy="1206500"/>
          </a:xfrm>
          <a:prstGeom prst="rect">
            <a:avLst/>
          </a:prstGeom>
          <a:noFill/>
          <a:ln/>
        </p:spPr>
        <p:txBody>
          <a:bodyPr wrap="square" lIns="0" tIns="0" rIns="0" bIns="0" rtlCol="0" anchor="ctr"/>
          <a:lstStyle/>
          <a:p>
            <a:pPr indent="0" marL="0">
              <a:buNone/>
            </a:pPr>
            <a:r>
              <a:rPr lang="en-US" sz="8500" dirty="0">
                <a:solidFill>
                  <a:srgbClr val="E63312"/>
                </a:solidFill>
                <a:latin typeface="Arial Black" pitchFamily="34" charset="0"/>
                <a:ea typeface="Arial Black" pitchFamily="34" charset="-122"/>
                <a:cs typeface="Arial Black" pitchFamily="34" charset="-120"/>
              </a:rPr>
              <a:t>517</a:t>
            </a:r>
            <a:endParaRPr lang="en-US" sz="8500" dirty="0"/>
          </a:p>
        </p:txBody>
      </p:sp>
      <p:sp>
        <p:nvSpPr>
          <p:cNvPr id="6" name="Text 4"/>
          <p:cNvSpPr txBox="1"/>
          <p:nvPr/>
        </p:nvSpPr>
        <p:spPr>
          <a:xfrm>
            <a:off x="1016000" y="3365500"/>
            <a:ext cx="3175000" cy="31750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automated tests pass</a:t>
            </a:r>
            <a:endParaRPr lang="en-US" sz="1500" dirty="0"/>
          </a:p>
        </p:txBody>
      </p:sp>
      <p:sp>
        <p:nvSpPr>
          <p:cNvPr id="7" name="Text 5"/>
          <p:cNvSpPr txBox="1"/>
          <p:nvPr/>
        </p:nvSpPr>
        <p:spPr>
          <a:xfrm>
            <a:off x="4400550" y="2095500"/>
            <a:ext cx="3302000" cy="1206500"/>
          </a:xfrm>
          <a:prstGeom prst="rect">
            <a:avLst/>
          </a:prstGeom>
          <a:noFill/>
          <a:ln/>
        </p:spPr>
        <p:txBody>
          <a:bodyPr wrap="square" lIns="0" tIns="0" rIns="0" bIns="0" rtlCol="0" anchor="ctr"/>
          <a:lstStyle/>
          <a:p>
            <a:pPr indent="0" marL="0">
              <a:buNone/>
            </a:pPr>
            <a:r>
              <a:rPr lang="en-US" sz="8500" dirty="0">
                <a:solidFill>
                  <a:srgbClr val="111111"/>
                </a:solidFill>
                <a:latin typeface="Arial Black" pitchFamily="34" charset="0"/>
                <a:ea typeface="Arial Black" pitchFamily="34" charset="-122"/>
                <a:cs typeface="Arial Black" pitchFamily="34" charset="-120"/>
              </a:rPr>
              <a:t>0</a:t>
            </a:r>
            <a:endParaRPr lang="en-US" sz="8500" dirty="0"/>
          </a:p>
        </p:txBody>
      </p:sp>
      <p:sp>
        <p:nvSpPr>
          <p:cNvPr id="8" name="Text 6"/>
          <p:cNvSpPr txBox="1"/>
          <p:nvPr/>
        </p:nvSpPr>
        <p:spPr>
          <a:xfrm>
            <a:off x="4400550" y="3365500"/>
            <a:ext cx="3175000" cy="31750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wrong doses on real typed orders</a:t>
            </a:r>
            <a:endParaRPr lang="en-US" sz="1500" dirty="0"/>
          </a:p>
        </p:txBody>
      </p:sp>
      <p:sp>
        <p:nvSpPr>
          <p:cNvPr id="9" name="Text 7"/>
          <p:cNvSpPr txBox="1"/>
          <p:nvPr/>
        </p:nvSpPr>
        <p:spPr>
          <a:xfrm>
            <a:off x="7785100" y="2095500"/>
            <a:ext cx="3302000" cy="1206500"/>
          </a:xfrm>
          <a:prstGeom prst="rect">
            <a:avLst/>
          </a:prstGeom>
          <a:noFill/>
          <a:ln/>
        </p:spPr>
        <p:txBody>
          <a:bodyPr wrap="square" lIns="0" tIns="0" rIns="0" bIns="0" rtlCol="0" anchor="ctr"/>
          <a:lstStyle/>
          <a:p>
            <a:pPr indent="0" marL="0">
              <a:buNone/>
            </a:pPr>
            <a:r>
              <a:rPr lang="en-US" sz="8500" dirty="0">
                <a:solidFill>
                  <a:srgbClr val="111111"/>
                </a:solidFill>
                <a:latin typeface="Arial Black" pitchFamily="34" charset="0"/>
                <a:ea typeface="Arial Black" pitchFamily="34" charset="-122"/>
                <a:cs typeface="Arial Black" pitchFamily="34" charset="-120"/>
              </a:rPr>
              <a:t>0</a:t>
            </a:r>
            <a:endParaRPr lang="en-US" sz="8500" dirty="0"/>
          </a:p>
        </p:txBody>
      </p:sp>
      <p:sp>
        <p:nvSpPr>
          <p:cNvPr id="10" name="Text 8"/>
          <p:cNvSpPr txBox="1"/>
          <p:nvPr/>
        </p:nvSpPr>
        <p:spPr>
          <a:xfrm>
            <a:off x="7785100" y="3365500"/>
            <a:ext cx="3175000" cy="31750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wrong drugs accepted from OCR</a:t>
            </a:r>
            <a:endParaRPr lang="en-US" sz="1500" dirty="0"/>
          </a:p>
        </p:txBody>
      </p:sp>
      <p:sp>
        <p:nvSpPr>
          <p:cNvPr id="11" name="Shape 9"/>
          <p:cNvSpPr/>
          <p:nvPr/>
        </p:nvSpPr>
        <p:spPr>
          <a:xfrm>
            <a:off x="1016000" y="4191000"/>
            <a:ext cx="10160000" cy="38100"/>
          </a:xfrm>
          <a:prstGeom prst="rect">
            <a:avLst/>
          </a:prstGeom>
          <a:solidFill>
            <a:srgbClr val="111111"/>
          </a:solidFill>
          <a:ln/>
        </p:spPr>
      </p:sp>
      <p:sp>
        <p:nvSpPr>
          <p:cNvPr id="12" name="Text 10"/>
          <p:cNvSpPr txBox="1"/>
          <p:nvPr/>
        </p:nvSpPr>
        <p:spPr>
          <a:xfrm>
            <a:off x="1016000" y="4406900"/>
            <a:ext cx="3048000" cy="190500"/>
          </a:xfrm>
          <a:prstGeom prst="rect">
            <a:avLst/>
          </a:prstGeom>
          <a:noFill/>
          <a:ln/>
        </p:spPr>
        <p:txBody>
          <a:bodyPr wrap="square" lIns="0" tIns="0" rIns="0" bIns="0" rtlCol="0" anchor="t"/>
          <a:lstStyle/>
          <a:p>
            <a:pPr indent="0" marL="0">
              <a:buNone/>
            </a:pPr>
            <a:r>
              <a:rPr lang="en-US" sz="1100" b="1" spc="300" kern="0" dirty="0">
                <a:solidFill>
                  <a:srgbClr val="1F7A3A"/>
                </a:solidFill>
                <a:latin typeface="Arial" pitchFamily="34" charset="0"/>
                <a:ea typeface="Arial" pitchFamily="34" charset="-122"/>
                <a:cs typeface="Arial" pitchFamily="34" charset="-120"/>
              </a:rPr>
              <a:t>WORKS TODAY</a:t>
            </a:r>
            <a:endParaRPr lang="en-US" sz="1100" dirty="0"/>
          </a:p>
        </p:txBody>
      </p:sp>
      <p:sp>
        <p:nvSpPr>
          <p:cNvPr id="13" name="Text 11"/>
          <p:cNvSpPr txBox="1"/>
          <p:nvPr/>
        </p:nvSpPr>
        <p:spPr>
          <a:xfrm>
            <a:off x="1016000" y="4673600"/>
            <a:ext cx="3048000" cy="7620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Typed prescription to signed plan</a:t>
            </a:r>
            <a:endParaRPr lang="en-US" sz="1600" dirty="0"/>
          </a:p>
        </p:txBody>
      </p:sp>
      <p:sp>
        <p:nvSpPr>
          <p:cNvPr id="14" name="Text 12"/>
          <p:cNvSpPr txBox="1"/>
          <p:nvPr/>
        </p:nvSpPr>
        <p:spPr>
          <a:xfrm>
            <a:off x="4400550" y="4406900"/>
            <a:ext cx="3048000" cy="190500"/>
          </a:xfrm>
          <a:prstGeom prst="rect">
            <a:avLst/>
          </a:prstGeom>
          <a:noFill/>
          <a:ln/>
        </p:spPr>
        <p:txBody>
          <a:bodyPr wrap="square" lIns="0" tIns="0" rIns="0" bIns="0" rtlCol="0" anchor="t"/>
          <a:lstStyle/>
          <a:p>
            <a:pPr indent="0" marL="0">
              <a:buNone/>
            </a:pPr>
            <a:r>
              <a:rPr lang="en-US" sz="1100" b="1" spc="300" kern="0" dirty="0">
                <a:solidFill>
                  <a:srgbClr val="1F7A3A"/>
                </a:solidFill>
                <a:latin typeface="Arial" pitchFamily="34" charset="0"/>
                <a:ea typeface="Arial" pitchFamily="34" charset="-122"/>
                <a:cs typeface="Arial" pitchFamily="34" charset="-120"/>
              </a:rPr>
              <a:t>WORKS TODAY</a:t>
            </a:r>
            <a:endParaRPr lang="en-US" sz="1100" dirty="0"/>
          </a:p>
        </p:txBody>
      </p:sp>
      <p:sp>
        <p:nvSpPr>
          <p:cNvPr id="15" name="Text 13"/>
          <p:cNvSpPr txBox="1"/>
          <p:nvPr/>
        </p:nvSpPr>
        <p:spPr>
          <a:xfrm>
            <a:off x="4400550" y="4673600"/>
            <a:ext cx="3048000" cy="7620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Kidney, allergy, culture and interaction checks</a:t>
            </a:r>
            <a:endParaRPr lang="en-US" sz="1600" dirty="0"/>
          </a:p>
        </p:txBody>
      </p:sp>
      <p:sp>
        <p:nvSpPr>
          <p:cNvPr id="16" name="Text 14"/>
          <p:cNvSpPr txBox="1"/>
          <p:nvPr/>
        </p:nvSpPr>
        <p:spPr>
          <a:xfrm>
            <a:off x="7785100" y="4406900"/>
            <a:ext cx="3048000" cy="190500"/>
          </a:xfrm>
          <a:prstGeom prst="rect">
            <a:avLst/>
          </a:prstGeom>
          <a:noFill/>
          <a:ln/>
        </p:spPr>
        <p:txBody>
          <a:bodyPr wrap="square" lIns="0" tIns="0" rIns="0" bIns="0" rtlCol="0" anchor="t"/>
          <a:lstStyle/>
          <a:p>
            <a:pPr indent="0" marL="0">
              <a:buNone/>
            </a:pPr>
            <a:r>
              <a:rPr lang="en-US" sz="1100" b="1" spc="300" kern="0" dirty="0">
                <a:solidFill>
                  <a:srgbClr val="1F7A3A"/>
                </a:solidFill>
                <a:latin typeface="Arial" pitchFamily="34" charset="0"/>
                <a:ea typeface="Arial" pitchFamily="34" charset="-122"/>
                <a:cs typeface="Arial" pitchFamily="34" charset="-120"/>
              </a:rPr>
              <a:t>WORKS TODAY</a:t>
            </a:r>
            <a:endParaRPr lang="en-US" sz="1100" dirty="0"/>
          </a:p>
        </p:txBody>
      </p:sp>
      <p:sp>
        <p:nvSpPr>
          <p:cNvPr id="17" name="Text 15"/>
          <p:cNvSpPr txBox="1"/>
          <p:nvPr/>
        </p:nvSpPr>
        <p:spPr>
          <a:xfrm>
            <a:off x="7785100" y="4673600"/>
            <a:ext cx="3048000" cy="762000"/>
          </a:xfrm>
          <a:prstGeom prst="rect">
            <a:avLst/>
          </a:prstGeom>
          <a:noFill/>
          <a:ln/>
        </p:spPr>
        <p:txBody>
          <a:bodyPr wrap="square" lIns="0" tIns="0" rIns="0" bIns="0" rtlCol="0" anchor="t"/>
          <a:lstStyle/>
          <a:p>
            <a:pPr indent="0" marL="0">
              <a:buNone/>
            </a:pPr>
            <a:r>
              <a:rPr lang="en-US" sz="1600" dirty="0">
                <a:solidFill>
                  <a:srgbClr val="111111"/>
                </a:solidFill>
                <a:latin typeface="Arial Black" pitchFamily="34" charset="0"/>
                <a:ea typeface="Arial Black" pitchFamily="34" charset="-122"/>
                <a:cs typeface="Arial Black" pitchFamily="34" charset="-120"/>
              </a:rPr>
              <a:t>Review, sign-off and audit log</a:t>
            </a:r>
            <a:endParaRPr lang="en-US" sz="1600" dirty="0"/>
          </a:p>
        </p:txBody>
      </p:sp>
      <p:sp>
        <p:nvSpPr>
          <p:cNvPr id="18" name="Shape 16"/>
          <p:cNvSpPr/>
          <p:nvPr/>
        </p:nvSpPr>
        <p:spPr>
          <a:xfrm>
            <a:off x="1016000" y="5651500"/>
            <a:ext cx="10160000" cy="609600"/>
          </a:xfrm>
          <a:prstGeom prst="rect">
            <a:avLst/>
          </a:prstGeom>
          <a:solidFill>
            <a:srgbClr val="F1F1EE"/>
          </a:solidFill>
          <a:ln/>
        </p:spPr>
      </p:sp>
      <p:sp>
        <p:nvSpPr>
          <p:cNvPr id="19" name="Text 17"/>
          <p:cNvSpPr txBox="1"/>
          <p:nvPr/>
        </p:nvSpPr>
        <p:spPr>
          <a:xfrm>
            <a:off x="1231900" y="5651500"/>
            <a:ext cx="9779000" cy="609600"/>
          </a:xfrm>
          <a:prstGeom prst="rect">
            <a:avLst/>
          </a:prstGeom>
          <a:noFill/>
          <a:ln/>
        </p:spPr>
        <p:txBody>
          <a:bodyPr wrap="square" lIns="0" tIns="0" rIns="0" bIns="0" rtlCol="0" anchor="ctr"/>
          <a:lstStyle/>
          <a:p>
            <a:pPr indent="0" marL="0">
              <a:buNone/>
            </a:pPr>
            <a:r>
              <a:rPr lang="en-US" sz="1500" b="1" dirty="0">
                <a:solidFill>
                  <a:srgbClr val="E63312"/>
                </a:solidFill>
                <a:latin typeface="Arial" pitchFamily="34" charset="0"/>
                <a:ea typeface="Arial" pitchFamily="34" charset="-122"/>
                <a:cs typeface="Arial" pitchFamily="34" charset="-120"/>
              </a:rPr>
              <a:t>24-hour plan    </a:t>
            </a:r>
            <a:pPr indent="0" marL="0">
              <a:buNone/>
            </a:pPr>
            <a:r>
              <a:rPr lang="en-US" sz="1500" b="1" dirty="0">
                <a:solidFill>
                  <a:srgbClr val="111111"/>
                </a:solidFill>
                <a:latin typeface="Arial" pitchFamily="34" charset="0"/>
                <a:ea typeface="Arial" pitchFamily="34" charset="-122"/>
                <a:cs typeface="Arial" pitchFamily="34" charset="-120"/>
              </a:rPr>
              <a:t>core engine first → merge 3 workstreams → API + UI → extra rules + AI guards</a:t>
            </a:r>
            <a:endParaRPr lang="en-US" sz="15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9"/>
          <p:cNvSpPr/>
          <p:nvPr>
            <p:ph idx="119" type="body" hasCustomPrompt="1"/>
          </p:nvPr>
        </p:nvSpPr>
        <p:spPr>
          <a:xfrm>
            <a:off x="1016000" y="584200"/>
            <a:ext cx="8255000" cy="254000"/>
          </a:xfrm>
          <a:prstGeom prst="rect">
            <a:avLst/>
          </a:prstGeom>
          <a:noFill/>
          <a:ln/>
        </p:spPr>
        <p:txBody>
          <a:bodyPr wrap="square" lIns="0" tIns="0" rIns="0" bIns="0" rtlCol="0" anchor="ctr"/>
          <a:lstStyle/>
          <a:p>
            <a:pPr indent="0" marL="0">
              <a:buNone/>
            </a:pPr>
            <a:r>
              <a:rPr lang="en-US" sz="1200" b="1" spc="300" kern="0" dirty="0">
                <a:solidFill>
                  <a:srgbClr val="111111"/>
                </a:solidFill>
                <a:latin typeface="Arial" pitchFamily="34" charset="0"/>
                <a:ea typeface="Arial" pitchFamily="34" charset="-122"/>
                <a:cs typeface="Arial" pitchFamily="34" charset="-120"/>
              </a:rPr>
              <a:t>09 · FUTURE SCOPE</a:t>
            </a:r>
            <a:endParaRPr lang="en-US" sz="1200" dirty="0"/>
          </a:p>
        </p:txBody>
      </p:sp>
      <p:sp>
        <p:nvSpPr>
          <p:cNvPr id="3" name="Text 19"/>
          <p:cNvSpPr/>
          <p:nvPr>
            <p:ph idx="120" type="title" hasCustomPrompt="1"/>
          </p:nvPr>
        </p:nvSpPr>
        <p:spPr>
          <a:xfrm>
            <a:off x="1016000" y="952500"/>
            <a:ext cx="8890000" cy="1079500"/>
          </a:xfrm>
          <a:prstGeom prst="rect">
            <a:avLst/>
          </a:prstGeom>
          <a:noFill/>
          <a:ln/>
        </p:spPr>
        <p:txBody>
          <a:bodyPr wrap="square" lIns="0" tIns="0" rIns="0" bIns="0" rtlCol="0" anchor="t"/>
          <a:lstStyle/>
          <a:p>
            <a:pPr algn="l" indent="0" marL="0">
              <a:lnSpc>
                <a:spcPct val="95000"/>
              </a:lnSpc>
              <a:buNone/>
            </a:pPr>
            <a:r>
              <a:rPr lang="en-US" sz="3400" dirty="0">
                <a:solidFill>
                  <a:srgbClr val="111111"/>
                </a:solidFill>
                <a:latin typeface="Arial Black" pitchFamily="34" charset="0"/>
                <a:ea typeface="Arial Black" pitchFamily="34" charset="-122"/>
                <a:cs typeface="Arial Black" pitchFamily="34" charset="-120"/>
              </a:rPr>
              <a:t>Next steps toward a hospital pilot</a:t>
            </a:r>
            <a:endParaRPr lang="en-US" sz="3400" dirty="0"/>
          </a:p>
        </p:txBody>
      </p:sp>
      <p:sp>
        <p:nvSpPr>
          <p:cNvPr id="4" name="Text 2"/>
          <p:cNvSpPr txBox="1"/>
          <p:nvPr/>
        </p:nvSpPr>
        <p:spPr>
          <a:xfrm>
            <a:off x="9906000" y="444500"/>
            <a:ext cx="1270000" cy="825500"/>
          </a:xfrm>
          <a:prstGeom prst="rect">
            <a:avLst/>
          </a:prstGeom>
          <a:noFill/>
          <a:ln/>
        </p:spPr>
        <p:txBody>
          <a:bodyPr wrap="square" lIns="0" tIns="0" rIns="0" bIns="0" rtlCol="0" anchor="ctr"/>
          <a:lstStyle/>
          <a:p>
            <a:pPr algn="r" indent="0" marL="0">
              <a:buNone/>
            </a:pPr>
            <a:r>
              <a:rPr lang="en-US" sz="5500" dirty="0">
                <a:solidFill>
                  <a:srgbClr val="E63312"/>
                </a:solidFill>
                <a:latin typeface="Arial Black" pitchFamily="34" charset="0"/>
                <a:ea typeface="Arial Black" pitchFamily="34" charset="-122"/>
                <a:cs typeface="Arial Black" pitchFamily="34" charset="-120"/>
              </a:rPr>
              <a:t>09</a:t>
            </a:r>
            <a:endParaRPr lang="en-US" sz="5500" dirty="0"/>
          </a:p>
        </p:txBody>
      </p:sp>
      <p:sp>
        <p:nvSpPr>
          <p:cNvPr id="5" name="Text 3"/>
          <p:cNvSpPr txBox="1"/>
          <p:nvPr/>
        </p:nvSpPr>
        <p:spPr>
          <a:xfrm>
            <a:off x="1016000" y="2286000"/>
            <a:ext cx="2298700" cy="457200"/>
          </a:xfrm>
          <a:prstGeom prst="rect">
            <a:avLst/>
          </a:prstGeom>
          <a:noFill/>
          <a:ln/>
        </p:spPr>
        <p:txBody>
          <a:bodyPr wrap="square" lIns="0" tIns="0" rIns="0" bIns="0" rtlCol="0" anchor="t"/>
          <a:lstStyle/>
          <a:p>
            <a:pPr indent="0" marL="0">
              <a:buNone/>
            </a:pPr>
            <a:r>
              <a:rPr lang="en-US" sz="2200" dirty="0">
                <a:solidFill>
                  <a:srgbClr val="111111"/>
                </a:solidFill>
                <a:latin typeface="Arial Black" pitchFamily="34" charset="0"/>
                <a:ea typeface="Arial Black" pitchFamily="34" charset="-122"/>
                <a:cs typeface="Arial Black" pitchFamily="34" charset="-120"/>
              </a:rPr>
              <a:t>Harden</a:t>
            </a:r>
            <a:endParaRPr lang="en-US" sz="2200" dirty="0"/>
          </a:p>
        </p:txBody>
      </p:sp>
      <p:sp>
        <p:nvSpPr>
          <p:cNvPr id="6" name="Shape 4"/>
          <p:cNvSpPr/>
          <p:nvPr/>
        </p:nvSpPr>
        <p:spPr>
          <a:xfrm>
            <a:off x="1016000" y="2794000"/>
            <a:ext cx="2298700" cy="63500"/>
          </a:xfrm>
          <a:prstGeom prst="rect">
            <a:avLst/>
          </a:prstGeom>
          <a:solidFill>
            <a:srgbClr val="E63312"/>
          </a:solidFill>
          <a:ln/>
        </p:spPr>
      </p:sp>
      <p:sp>
        <p:nvSpPr>
          <p:cNvPr id="7" name="Text 5"/>
          <p:cNvSpPr txBox="1"/>
          <p:nvPr/>
        </p:nvSpPr>
        <p:spPr>
          <a:xfrm>
            <a:off x="1016000" y="3035300"/>
            <a:ext cx="2298700" cy="101600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Persistent database, role-based access</a:t>
            </a:r>
            <a:endParaRPr lang="en-US" sz="1600" dirty="0"/>
          </a:p>
        </p:txBody>
      </p:sp>
      <p:sp>
        <p:nvSpPr>
          <p:cNvPr id="8" name="Text 6"/>
          <p:cNvSpPr txBox="1"/>
          <p:nvPr/>
        </p:nvSpPr>
        <p:spPr>
          <a:xfrm>
            <a:off x="3632200" y="2286000"/>
            <a:ext cx="2298700" cy="457200"/>
          </a:xfrm>
          <a:prstGeom prst="rect">
            <a:avLst/>
          </a:prstGeom>
          <a:noFill/>
          <a:ln/>
        </p:spPr>
        <p:txBody>
          <a:bodyPr wrap="square" lIns="0" tIns="0" rIns="0" bIns="0" rtlCol="0" anchor="t"/>
          <a:lstStyle/>
          <a:p>
            <a:pPr indent="0" marL="0">
              <a:buNone/>
            </a:pPr>
            <a:r>
              <a:rPr lang="en-US" sz="2200" dirty="0">
                <a:solidFill>
                  <a:srgbClr val="111111"/>
                </a:solidFill>
                <a:latin typeface="Arial Black" pitchFamily="34" charset="0"/>
                <a:ea typeface="Arial Black" pitchFamily="34" charset="-122"/>
                <a:cs typeface="Arial Black" pitchFamily="34" charset="-120"/>
              </a:rPr>
              <a:t>Integrate</a:t>
            </a:r>
            <a:endParaRPr lang="en-US" sz="2200" dirty="0"/>
          </a:p>
        </p:txBody>
      </p:sp>
      <p:sp>
        <p:nvSpPr>
          <p:cNvPr id="9" name="Shape 7"/>
          <p:cNvSpPr/>
          <p:nvPr/>
        </p:nvSpPr>
        <p:spPr>
          <a:xfrm>
            <a:off x="3632200" y="2794000"/>
            <a:ext cx="2298700" cy="63500"/>
          </a:xfrm>
          <a:prstGeom prst="rect">
            <a:avLst/>
          </a:prstGeom>
          <a:solidFill>
            <a:srgbClr val="111111"/>
          </a:solidFill>
          <a:ln/>
        </p:spPr>
      </p:sp>
      <p:sp>
        <p:nvSpPr>
          <p:cNvPr id="10" name="Text 8"/>
          <p:cNvSpPr txBox="1"/>
          <p:nvPr/>
        </p:nvSpPr>
        <p:spPr>
          <a:xfrm>
            <a:off x="3632200" y="3035300"/>
            <a:ext cx="2298700" cy="101600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Hospital records (FHIR), local antibiogram</a:t>
            </a:r>
            <a:endParaRPr lang="en-US" sz="1600" dirty="0"/>
          </a:p>
        </p:txBody>
      </p:sp>
      <p:sp>
        <p:nvSpPr>
          <p:cNvPr id="11" name="Text 9"/>
          <p:cNvSpPr txBox="1"/>
          <p:nvPr/>
        </p:nvSpPr>
        <p:spPr>
          <a:xfrm>
            <a:off x="6248400" y="2286000"/>
            <a:ext cx="2298700" cy="457200"/>
          </a:xfrm>
          <a:prstGeom prst="rect">
            <a:avLst/>
          </a:prstGeom>
          <a:noFill/>
          <a:ln/>
        </p:spPr>
        <p:txBody>
          <a:bodyPr wrap="square" lIns="0" tIns="0" rIns="0" bIns="0" rtlCol="0" anchor="t"/>
          <a:lstStyle/>
          <a:p>
            <a:pPr indent="0" marL="0">
              <a:buNone/>
            </a:pPr>
            <a:r>
              <a:rPr lang="en-US" sz="2200" dirty="0">
                <a:solidFill>
                  <a:srgbClr val="111111"/>
                </a:solidFill>
                <a:latin typeface="Arial Black" pitchFamily="34" charset="0"/>
                <a:ea typeface="Arial Black" pitchFamily="34" charset="-122"/>
                <a:cs typeface="Arial Black" pitchFamily="34" charset="-120"/>
              </a:rPr>
              <a:t>Improve AI</a:t>
            </a:r>
            <a:endParaRPr lang="en-US" sz="2200" dirty="0"/>
          </a:p>
        </p:txBody>
      </p:sp>
      <p:sp>
        <p:nvSpPr>
          <p:cNvPr id="12" name="Shape 10"/>
          <p:cNvSpPr/>
          <p:nvPr/>
        </p:nvSpPr>
        <p:spPr>
          <a:xfrm>
            <a:off x="6248400" y="2794000"/>
            <a:ext cx="2298700" cy="63500"/>
          </a:xfrm>
          <a:prstGeom prst="rect">
            <a:avLst/>
          </a:prstGeom>
          <a:solidFill>
            <a:srgbClr val="111111"/>
          </a:solidFill>
          <a:ln/>
        </p:spPr>
      </p:sp>
      <p:sp>
        <p:nvSpPr>
          <p:cNvPr id="13" name="Text 11"/>
          <p:cNvSpPr txBox="1"/>
          <p:nvPr/>
        </p:nvSpPr>
        <p:spPr>
          <a:xfrm>
            <a:off x="6248400" y="3035300"/>
            <a:ext cx="2298700" cy="101600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Better OCR, measured AI checks</a:t>
            </a:r>
            <a:endParaRPr lang="en-US" sz="1600" dirty="0"/>
          </a:p>
        </p:txBody>
      </p:sp>
      <p:sp>
        <p:nvSpPr>
          <p:cNvPr id="14" name="Text 12"/>
          <p:cNvSpPr txBox="1"/>
          <p:nvPr/>
        </p:nvSpPr>
        <p:spPr>
          <a:xfrm>
            <a:off x="8864600" y="2286000"/>
            <a:ext cx="2298700" cy="457200"/>
          </a:xfrm>
          <a:prstGeom prst="rect">
            <a:avLst/>
          </a:prstGeom>
          <a:noFill/>
          <a:ln/>
        </p:spPr>
        <p:txBody>
          <a:bodyPr wrap="square" lIns="0" tIns="0" rIns="0" bIns="0" rtlCol="0" anchor="t"/>
          <a:lstStyle/>
          <a:p>
            <a:pPr indent="0" marL="0">
              <a:buNone/>
            </a:pPr>
            <a:r>
              <a:rPr lang="en-US" sz="2200" dirty="0">
                <a:solidFill>
                  <a:srgbClr val="111111"/>
                </a:solidFill>
                <a:latin typeface="Arial Black" pitchFamily="34" charset="0"/>
                <a:ea typeface="Arial Black" pitchFamily="34" charset="-122"/>
                <a:cs typeface="Arial Black" pitchFamily="34" charset="-120"/>
              </a:rPr>
              <a:t>Expand</a:t>
            </a:r>
            <a:endParaRPr lang="en-US" sz="2200" dirty="0"/>
          </a:p>
        </p:txBody>
      </p:sp>
      <p:sp>
        <p:nvSpPr>
          <p:cNvPr id="15" name="Shape 13"/>
          <p:cNvSpPr/>
          <p:nvPr/>
        </p:nvSpPr>
        <p:spPr>
          <a:xfrm>
            <a:off x="8864600" y="2794000"/>
            <a:ext cx="2298700" cy="63500"/>
          </a:xfrm>
          <a:prstGeom prst="rect">
            <a:avLst/>
          </a:prstGeom>
          <a:solidFill>
            <a:srgbClr val="111111"/>
          </a:solidFill>
          <a:ln/>
        </p:spPr>
      </p:sp>
      <p:sp>
        <p:nvSpPr>
          <p:cNvPr id="16" name="Text 14"/>
          <p:cNvSpPr txBox="1"/>
          <p:nvPr/>
        </p:nvSpPr>
        <p:spPr>
          <a:xfrm>
            <a:off x="8864600" y="3035300"/>
            <a:ext cx="2298700" cy="101600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Paediatric dosing, regional languages</a:t>
            </a:r>
            <a:endParaRPr lang="en-US" sz="1600" dirty="0"/>
          </a:p>
        </p:txBody>
      </p:sp>
      <p:sp>
        <p:nvSpPr>
          <p:cNvPr id="17" name="Shape 15"/>
          <p:cNvSpPr/>
          <p:nvPr/>
        </p:nvSpPr>
        <p:spPr>
          <a:xfrm>
            <a:off x="1016000" y="4965700"/>
            <a:ext cx="228600" cy="228600"/>
          </a:xfrm>
          <a:prstGeom prst="ellipse">
            <a:avLst/>
          </a:prstGeom>
          <a:solidFill>
            <a:srgbClr val="E63312"/>
          </a:solidFill>
          <a:ln w="50800">
            <a:solidFill>
              <a:srgbClr val="E63312"/>
            </a:solidFill>
            <a:prstDash val="solid"/>
          </a:ln>
        </p:spPr>
      </p:sp>
      <p:sp>
        <p:nvSpPr>
          <p:cNvPr id="18" name="Text 16"/>
          <p:cNvSpPr txBox="1"/>
          <p:nvPr/>
        </p:nvSpPr>
        <p:spPr>
          <a:xfrm>
            <a:off x="1371600" y="4889500"/>
            <a:ext cx="2667000" cy="381000"/>
          </a:xfrm>
          <a:prstGeom prst="rect">
            <a:avLst/>
          </a:prstGeom>
          <a:noFill/>
          <a:ln/>
        </p:spPr>
        <p:txBody>
          <a:bodyPr wrap="square" lIns="0" tIns="0" rIns="0" bIns="0" rtlCol="0" anchor="ctr"/>
          <a:lstStyle/>
          <a:p>
            <a:pPr indent="0" marL="0">
              <a:buNone/>
            </a:pPr>
            <a:r>
              <a:rPr lang="en-US" sz="1600" dirty="0">
                <a:solidFill>
                  <a:srgbClr val="E63312"/>
                </a:solidFill>
                <a:latin typeface="Arial Black" pitchFamily="34" charset="0"/>
                <a:ea typeface="Arial Black" pitchFamily="34" charset="-122"/>
                <a:cs typeface="Arial Black" pitchFamily="34" charset="-120"/>
              </a:rPr>
              <a:t>Pilot in one pharmacy</a:t>
            </a:r>
            <a:endParaRPr lang="en-US" sz="1600" dirty="0"/>
          </a:p>
        </p:txBody>
      </p:sp>
      <p:sp>
        <p:nvSpPr>
          <p:cNvPr id="19" name="Text 17"/>
          <p:cNvSpPr txBox="1"/>
          <p:nvPr/>
        </p:nvSpPr>
        <p:spPr>
          <a:xfrm>
            <a:off x="4038600" y="4889500"/>
            <a:ext cx="444500" cy="381000"/>
          </a:xfrm>
          <a:prstGeom prst="rect">
            <a:avLst/>
          </a:prstGeom>
          <a:noFill/>
          <a:ln/>
        </p:spPr>
        <p:txBody>
          <a:bodyPr wrap="square" lIns="0" tIns="0" rIns="0" bIns="0" rtlCol="0" anchor="ctr"/>
          <a:lstStyle/>
          <a:p>
            <a:pPr algn="ctr" indent="0" marL="0">
              <a:buNone/>
            </a:pPr>
            <a:r>
              <a:rPr lang="en-US" sz="1600" dirty="0">
                <a:solidFill>
                  <a:srgbClr val="666666"/>
                </a:solidFill>
                <a:latin typeface="Arial Black" pitchFamily="34" charset="0"/>
                <a:ea typeface="Arial Black" pitchFamily="34" charset="-122"/>
                <a:cs typeface="Arial Black" pitchFamily="34" charset="-120"/>
              </a:rPr>
              <a:t>→</a:t>
            </a:r>
            <a:endParaRPr lang="en-US" sz="1600" dirty="0"/>
          </a:p>
        </p:txBody>
      </p:sp>
      <p:sp>
        <p:nvSpPr>
          <p:cNvPr id="20" name="Shape 18"/>
          <p:cNvSpPr/>
          <p:nvPr/>
        </p:nvSpPr>
        <p:spPr>
          <a:xfrm>
            <a:off x="4610100" y="4965700"/>
            <a:ext cx="228600" cy="228600"/>
          </a:xfrm>
          <a:prstGeom prst="ellipse">
            <a:avLst/>
          </a:prstGeom>
          <a:solidFill>
            <a:srgbClr val="FFFFFF"/>
          </a:solidFill>
          <a:ln w="50800">
            <a:solidFill>
              <a:srgbClr val="111111"/>
            </a:solidFill>
            <a:prstDash val="solid"/>
          </a:ln>
        </p:spPr>
      </p:sp>
      <p:sp>
        <p:nvSpPr>
          <p:cNvPr id="21" name="Text 19"/>
          <p:cNvSpPr txBox="1"/>
          <p:nvPr/>
        </p:nvSpPr>
        <p:spPr>
          <a:xfrm>
            <a:off x="4965700" y="4889500"/>
            <a:ext cx="2286000" cy="381000"/>
          </a:xfrm>
          <a:prstGeom prst="rect">
            <a:avLst/>
          </a:prstGeom>
          <a:noFill/>
          <a:ln/>
        </p:spPr>
        <p:txBody>
          <a:bodyPr wrap="square" lIns="0" tIns="0" rIns="0" bIns="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Pharmacist study</a:t>
            </a:r>
            <a:endParaRPr lang="en-US" sz="1600" dirty="0"/>
          </a:p>
        </p:txBody>
      </p:sp>
      <p:sp>
        <p:nvSpPr>
          <p:cNvPr id="22" name="Text 20"/>
          <p:cNvSpPr txBox="1"/>
          <p:nvPr/>
        </p:nvSpPr>
        <p:spPr>
          <a:xfrm>
            <a:off x="7251700" y="4889500"/>
            <a:ext cx="444500" cy="381000"/>
          </a:xfrm>
          <a:prstGeom prst="rect">
            <a:avLst/>
          </a:prstGeom>
          <a:noFill/>
          <a:ln/>
        </p:spPr>
        <p:txBody>
          <a:bodyPr wrap="square" lIns="0" tIns="0" rIns="0" bIns="0" rtlCol="0" anchor="ctr"/>
          <a:lstStyle/>
          <a:p>
            <a:pPr algn="ctr" indent="0" marL="0">
              <a:buNone/>
            </a:pPr>
            <a:r>
              <a:rPr lang="en-US" sz="1600" dirty="0">
                <a:solidFill>
                  <a:srgbClr val="666666"/>
                </a:solidFill>
                <a:latin typeface="Arial Black" pitchFamily="34" charset="0"/>
                <a:ea typeface="Arial Black" pitchFamily="34" charset="-122"/>
                <a:cs typeface="Arial Black" pitchFamily="34" charset="-120"/>
              </a:rPr>
              <a:t>→</a:t>
            </a:r>
            <a:endParaRPr lang="en-US" sz="1600" dirty="0"/>
          </a:p>
        </p:txBody>
      </p:sp>
      <p:sp>
        <p:nvSpPr>
          <p:cNvPr id="23" name="Shape 21"/>
          <p:cNvSpPr/>
          <p:nvPr/>
        </p:nvSpPr>
        <p:spPr>
          <a:xfrm>
            <a:off x="7823200" y="4965700"/>
            <a:ext cx="228600" cy="228600"/>
          </a:xfrm>
          <a:prstGeom prst="ellipse">
            <a:avLst/>
          </a:prstGeom>
          <a:solidFill>
            <a:srgbClr val="FFFFFF"/>
          </a:solidFill>
          <a:ln w="50800">
            <a:solidFill>
              <a:srgbClr val="111111"/>
            </a:solidFill>
            <a:prstDash val="solid"/>
          </a:ln>
        </p:spPr>
      </p:sp>
      <p:sp>
        <p:nvSpPr>
          <p:cNvPr id="24" name="Text 22"/>
          <p:cNvSpPr txBox="1"/>
          <p:nvPr/>
        </p:nvSpPr>
        <p:spPr>
          <a:xfrm>
            <a:off x="8178800" y="4889500"/>
            <a:ext cx="2667000" cy="381000"/>
          </a:xfrm>
          <a:prstGeom prst="rect">
            <a:avLst/>
          </a:prstGeom>
          <a:noFill/>
          <a:ln/>
        </p:spPr>
        <p:txBody>
          <a:bodyPr wrap="square" lIns="0" tIns="0" rIns="0" bIns="0" rtlCol="0" anchor="ctr"/>
          <a:lstStyle/>
          <a:p>
            <a:pPr indent="0" marL="0">
              <a:buNone/>
            </a:pPr>
            <a:r>
              <a:rPr lang="en-US" sz="1600" dirty="0">
                <a:solidFill>
                  <a:srgbClr val="111111"/>
                </a:solidFill>
                <a:latin typeface="Arial Black" pitchFamily="34" charset="0"/>
                <a:ea typeface="Arial Black" pitchFamily="34" charset="-122"/>
                <a:cs typeface="Arial Black" pitchFamily="34" charset="-120"/>
              </a:rPr>
              <a:t>Multi-hospital rollout</a:t>
            </a:r>
            <a:endParaRPr lang="en-US" sz="1600" dirty="0"/>
          </a:p>
        </p:txBody>
      </p:sp>
      <p:sp>
        <p:nvSpPr>
          <p:cNvPr id="25" name="Slide Number Placeholder 0"/>
          <p:cNvSpPr>
            <a:spLocks noGrp="1"/>
          </p:cNvSpPr>
          <p:nvPr>
            <p:ph type="sldNum" sz="quarter" idx="4294967295"/>
          </p:nvPr>
        </p:nvSpPr>
        <p:spPr>
          <a:xfrm>
            <a:off x="10541000" y="6388100"/>
            <a:ext cx="63500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666666"/>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016000" y="584200"/>
            <a:ext cx="5715000" cy="254000"/>
          </a:xfrm>
          <a:prstGeom prst="rect">
            <a:avLst/>
          </a:prstGeom>
          <a:noFill/>
          <a:ln/>
        </p:spPr>
        <p:txBody>
          <a:bodyPr wrap="square" lIns="0" tIns="0" rIns="0" bIns="0" rtlCol="0" anchor="t"/>
          <a:lstStyle/>
          <a:p>
            <a:pPr indent="0" marL="0">
              <a:buNone/>
            </a:pPr>
            <a:r>
              <a:rPr lang="en-US" sz="1200" b="1" spc="300" kern="0" dirty="0">
                <a:solidFill>
                  <a:srgbClr val="E63312"/>
                </a:solidFill>
                <a:latin typeface="Arial" pitchFamily="34" charset="0"/>
                <a:ea typeface="Arial" pitchFamily="34" charset="-122"/>
                <a:cs typeface="Arial" pitchFamily="34" charset="-120"/>
              </a:rPr>
              <a:t>10 · CONCLUSION</a:t>
            </a:r>
            <a:endParaRPr lang="en-US" sz="1200" dirty="0"/>
          </a:p>
        </p:txBody>
      </p:sp>
      <p:sp>
        <p:nvSpPr>
          <p:cNvPr id="3" name="Text 1"/>
          <p:cNvSpPr txBox="1"/>
          <p:nvPr/>
        </p:nvSpPr>
        <p:spPr>
          <a:xfrm>
            <a:off x="1016000" y="1270000"/>
            <a:ext cx="9906000" cy="2413000"/>
          </a:xfrm>
          <a:prstGeom prst="rect">
            <a:avLst/>
          </a:prstGeom>
          <a:noFill/>
          <a:ln/>
        </p:spPr>
        <p:txBody>
          <a:bodyPr wrap="square" lIns="0" tIns="0" rIns="0" bIns="0" rtlCol="0" anchor="t"/>
          <a:lstStyle/>
          <a:p>
            <a:pPr indent="0" marL="0">
              <a:lnSpc>
                <a:spcPct val="100000"/>
              </a:lnSpc>
              <a:buNone/>
            </a:pPr>
            <a:r>
              <a:rPr lang="en-US" sz="4400" dirty="0">
                <a:solidFill>
                  <a:srgbClr val="FFFFFF"/>
                </a:solidFill>
                <a:latin typeface="Arial Black" pitchFamily="34" charset="0"/>
                <a:ea typeface="Arial Black" pitchFamily="34" charset="-122"/>
                <a:cs typeface="Arial Black" pitchFamily="34" charset="-120"/>
              </a:rPr>
              <a:t>It shows what it checked, what it couldn't, and why. </a:t>
            </a:r>
            <a:pPr indent="0" marL="0">
              <a:lnSpc>
                <a:spcPct val="100000"/>
              </a:lnSpc>
              <a:buNone/>
            </a:pPr>
            <a:r>
              <a:rPr lang="en-US" sz="4400" dirty="0">
                <a:solidFill>
                  <a:srgbClr val="E63312"/>
                </a:solidFill>
                <a:latin typeface="Arial Black" pitchFamily="34" charset="0"/>
                <a:ea typeface="Arial Black" pitchFamily="34" charset="-122"/>
                <a:cs typeface="Arial Black" pitchFamily="34" charset="-120"/>
              </a:rPr>
              <a:t>The pharmacist decides.</a:t>
            </a:r>
            <a:endParaRPr lang="en-US" sz="4400" dirty="0"/>
          </a:p>
        </p:txBody>
      </p:sp>
      <p:sp>
        <p:nvSpPr>
          <p:cNvPr id="4" name="Shape 2"/>
          <p:cNvSpPr/>
          <p:nvPr/>
        </p:nvSpPr>
        <p:spPr>
          <a:xfrm>
            <a:off x="1016000" y="4064000"/>
            <a:ext cx="10160000" cy="0"/>
          </a:xfrm>
          <a:prstGeom prst="line">
            <a:avLst/>
          </a:prstGeom>
          <a:noFill/>
          <a:ln w="25400">
            <a:solidFill>
              <a:srgbClr val="555555"/>
            </a:solidFill>
            <a:prstDash val="solid"/>
          </a:ln>
        </p:spPr>
      </p:sp>
      <p:sp>
        <p:nvSpPr>
          <p:cNvPr id="5" name="Text 3"/>
          <p:cNvSpPr txBox="1"/>
          <p:nvPr/>
        </p:nvSpPr>
        <p:spPr>
          <a:xfrm>
            <a:off x="1016000" y="4254500"/>
            <a:ext cx="1270000" cy="317500"/>
          </a:xfrm>
          <a:prstGeom prst="rect">
            <a:avLst/>
          </a:prstGeom>
          <a:noFill/>
          <a:ln/>
        </p:spPr>
        <p:txBody>
          <a:bodyPr wrap="square" lIns="0" tIns="0" rIns="0" bIns="0" rtlCol="0" anchor="t"/>
          <a:lstStyle/>
          <a:p>
            <a:pPr indent="0" marL="0">
              <a:buNone/>
            </a:pPr>
            <a:r>
              <a:rPr lang="en-US" sz="1700" dirty="0">
                <a:solidFill>
                  <a:srgbClr val="E63312"/>
                </a:solidFill>
                <a:latin typeface="Arial Black" pitchFamily="34" charset="0"/>
                <a:ea typeface="Arial Black" pitchFamily="34" charset="-122"/>
                <a:cs typeface="Arial Black" pitchFamily="34" charset="-120"/>
              </a:rPr>
              <a:t>01</a:t>
            </a:r>
            <a:endParaRPr lang="en-US" sz="1700" dirty="0"/>
          </a:p>
        </p:txBody>
      </p:sp>
      <p:sp>
        <p:nvSpPr>
          <p:cNvPr id="6" name="Text 4"/>
          <p:cNvSpPr txBox="1"/>
          <p:nvPr/>
        </p:nvSpPr>
        <p:spPr>
          <a:xfrm>
            <a:off x="1016000" y="4603750"/>
            <a:ext cx="2984500" cy="762000"/>
          </a:xfrm>
          <a:prstGeom prst="rect">
            <a:avLst/>
          </a:prstGeom>
          <a:noFill/>
          <a:ln/>
        </p:spPr>
        <p:txBody>
          <a:bodyPr wrap="square" lIns="0" tIns="0" rIns="0" bIns="0" rtlCol="0" anchor="t"/>
          <a:lstStyle/>
          <a:p>
            <a:pPr indent="0" marL="0">
              <a:buNone/>
            </a:pPr>
            <a:r>
              <a:rPr lang="en-US" sz="2000" dirty="0">
                <a:solidFill>
                  <a:srgbClr val="FFFFFF"/>
                </a:solidFill>
                <a:latin typeface="Arial Black" pitchFamily="34" charset="0"/>
                <a:ea typeface="Arial Black" pitchFamily="34" charset="-122"/>
                <a:cs typeface="Arial Black" pitchFamily="34" charset="-120"/>
              </a:rPr>
              <a:t>Cited checks on every order</a:t>
            </a:r>
            <a:endParaRPr lang="en-US" sz="2000" dirty="0"/>
          </a:p>
        </p:txBody>
      </p:sp>
      <p:sp>
        <p:nvSpPr>
          <p:cNvPr id="7" name="Text 5"/>
          <p:cNvSpPr txBox="1"/>
          <p:nvPr/>
        </p:nvSpPr>
        <p:spPr>
          <a:xfrm>
            <a:off x="4400550" y="4254500"/>
            <a:ext cx="1270000" cy="317500"/>
          </a:xfrm>
          <a:prstGeom prst="rect">
            <a:avLst/>
          </a:prstGeom>
          <a:noFill/>
          <a:ln/>
        </p:spPr>
        <p:txBody>
          <a:bodyPr wrap="square" lIns="0" tIns="0" rIns="0" bIns="0" rtlCol="0" anchor="t"/>
          <a:lstStyle/>
          <a:p>
            <a:pPr indent="0" marL="0">
              <a:buNone/>
            </a:pPr>
            <a:r>
              <a:rPr lang="en-US" sz="1700" dirty="0">
                <a:solidFill>
                  <a:srgbClr val="E63312"/>
                </a:solidFill>
                <a:latin typeface="Arial Black" pitchFamily="34" charset="0"/>
                <a:ea typeface="Arial Black" pitchFamily="34" charset="-122"/>
                <a:cs typeface="Arial Black" pitchFamily="34" charset="-120"/>
              </a:rPr>
              <a:t>02</a:t>
            </a:r>
            <a:endParaRPr lang="en-US" sz="1700" dirty="0"/>
          </a:p>
        </p:txBody>
      </p:sp>
      <p:sp>
        <p:nvSpPr>
          <p:cNvPr id="8" name="Text 6"/>
          <p:cNvSpPr txBox="1"/>
          <p:nvPr/>
        </p:nvSpPr>
        <p:spPr>
          <a:xfrm>
            <a:off x="4400550" y="4603750"/>
            <a:ext cx="2984500" cy="762000"/>
          </a:xfrm>
          <a:prstGeom prst="rect">
            <a:avLst/>
          </a:prstGeom>
          <a:noFill/>
          <a:ln/>
        </p:spPr>
        <p:txBody>
          <a:bodyPr wrap="square" lIns="0" tIns="0" rIns="0" bIns="0" rtlCol="0" anchor="t"/>
          <a:lstStyle/>
          <a:p>
            <a:pPr indent="0" marL="0">
              <a:buNone/>
            </a:pPr>
            <a:r>
              <a:rPr lang="en-US" sz="2000" dirty="0">
                <a:solidFill>
                  <a:srgbClr val="FFFFFF"/>
                </a:solidFill>
                <a:latin typeface="Arial Black" pitchFamily="34" charset="0"/>
                <a:ea typeface="Arial Black" pitchFamily="34" charset="-122"/>
                <a:cs typeface="Arial Black" pitchFamily="34" charset="-120"/>
              </a:rPr>
              <a:t>Unknown is never safe</a:t>
            </a:r>
            <a:endParaRPr lang="en-US" sz="2000" dirty="0"/>
          </a:p>
        </p:txBody>
      </p:sp>
      <p:sp>
        <p:nvSpPr>
          <p:cNvPr id="9" name="Text 7"/>
          <p:cNvSpPr txBox="1"/>
          <p:nvPr/>
        </p:nvSpPr>
        <p:spPr>
          <a:xfrm>
            <a:off x="7785100" y="4254500"/>
            <a:ext cx="1270000" cy="317500"/>
          </a:xfrm>
          <a:prstGeom prst="rect">
            <a:avLst/>
          </a:prstGeom>
          <a:noFill/>
          <a:ln/>
        </p:spPr>
        <p:txBody>
          <a:bodyPr wrap="square" lIns="0" tIns="0" rIns="0" bIns="0" rtlCol="0" anchor="t"/>
          <a:lstStyle/>
          <a:p>
            <a:pPr indent="0" marL="0">
              <a:buNone/>
            </a:pPr>
            <a:r>
              <a:rPr lang="en-US" sz="1700" dirty="0">
                <a:solidFill>
                  <a:srgbClr val="E63312"/>
                </a:solidFill>
                <a:latin typeface="Arial Black" pitchFamily="34" charset="0"/>
                <a:ea typeface="Arial Black" pitchFamily="34" charset="-122"/>
                <a:cs typeface="Arial Black" pitchFamily="34" charset="-120"/>
              </a:rPr>
              <a:t>03</a:t>
            </a:r>
            <a:endParaRPr lang="en-US" sz="1700" dirty="0"/>
          </a:p>
        </p:txBody>
      </p:sp>
      <p:sp>
        <p:nvSpPr>
          <p:cNvPr id="10" name="Text 8"/>
          <p:cNvSpPr txBox="1"/>
          <p:nvPr/>
        </p:nvSpPr>
        <p:spPr>
          <a:xfrm>
            <a:off x="7785100" y="4603750"/>
            <a:ext cx="2984500" cy="762000"/>
          </a:xfrm>
          <a:prstGeom prst="rect">
            <a:avLst/>
          </a:prstGeom>
          <a:noFill/>
          <a:ln/>
        </p:spPr>
        <p:txBody>
          <a:bodyPr wrap="square" lIns="0" tIns="0" rIns="0" bIns="0" rtlCol="0" anchor="t"/>
          <a:lstStyle/>
          <a:p>
            <a:pPr indent="0" marL="0">
              <a:buNone/>
            </a:pPr>
            <a:r>
              <a:rPr lang="en-US" sz="2000" dirty="0">
                <a:solidFill>
                  <a:srgbClr val="FFFFFF"/>
                </a:solidFill>
                <a:latin typeface="Arial Black" pitchFamily="34" charset="0"/>
                <a:ea typeface="Arial Black" pitchFamily="34" charset="-122"/>
                <a:cs typeface="Arial Black" pitchFamily="34" charset="-120"/>
              </a:rPr>
              <a:t>Every decision audited</a:t>
            </a:r>
            <a:endParaRPr lang="en-US" sz="2000" dirty="0"/>
          </a:p>
        </p:txBody>
      </p:sp>
      <p:sp>
        <p:nvSpPr>
          <p:cNvPr id="11" name="Text 9"/>
          <p:cNvSpPr txBox="1"/>
          <p:nvPr/>
        </p:nvSpPr>
        <p:spPr>
          <a:xfrm>
            <a:off x="1016000" y="5715000"/>
            <a:ext cx="7620000" cy="317500"/>
          </a:xfrm>
          <a:prstGeom prst="rect">
            <a:avLst/>
          </a:prstGeom>
          <a:noFill/>
          <a:ln/>
        </p:spPr>
        <p:txBody>
          <a:bodyPr wrap="square" lIns="0" tIns="0" rIns="0" bIns="0" rtlCol="0" anchor="ctr"/>
          <a:lstStyle/>
          <a:p>
            <a:pPr indent="0" marL="0">
              <a:buNone/>
            </a:pPr>
            <a:r>
              <a:rPr lang="en-US" sz="1500" i="1" dirty="0">
                <a:solidFill>
                  <a:srgbClr val="BFBFBF"/>
                </a:solidFill>
                <a:latin typeface="Arial" pitchFamily="34" charset="0"/>
                <a:ea typeface="Arial" pitchFamily="34" charset="-122"/>
                <a:cs typeface="Arial" pitchFamily="34" charset="-120"/>
              </a:rPr>
              <a:t>Vision: guideline-driven antibiotic review in every Indian hospital pharmacy.</a:t>
            </a:r>
            <a:endParaRPr lang="en-US" sz="1500" dirty="0"/>
          </a:p>
        </p:txBody>
      </p:sp>
      <p:sp>
        <p:nvSpPr>
          <p:cNvPr id="12" name="Text 10"/>
          <p:cNvSpPr txBox="1"/>
          <p:nvPr/>
        </p:nvSpPr>
        <p:spPr>
          <a:xfrm>
            <a:off x="8636000" y="5588000"/>
            <a:ext cx="2540000" cy="571500"/>
          </a:xfrm>
          <a:prstGeom prst="rect">
            <a:avLst/>
          </a:prstGeom>
          <a:noFill/>
          <a:ln/>
        </p:spPr>
        <p:txBody>
          <a:bodyPr wrap="square" lIns="0" tIns="0" rIns="0" bIns="0" rtlCol="0" anchor="ctr"/>
          <a:lstStyle/>
          <a:p>
            <a:pPr algn="r" indent="0" marL="0">
              <a:buNone/>
            </a:pPr>
            <a:r>
              <a:rPr lang="en-US" sz="3000" dirty="0">
                <a:solidFill>
                  <a:srgbClr val="FFFFFF"/>
                </a:solidFill>
                <a:latin typeface="Arial Black" pitchFamily="34" charset="0"/>
                <a:ea typeface="Arial Black" pitchFamily="34" charset="-122"/>
                <a:cs typeface="Arial Black" pitchFamily="34" charset="-120"/>
              </a:rPr>
              <a:t>Thank you</a:t>
            </a:r>
            <a:endParaRPr lang="en-US" sz="3000" dirty="0"/>
          </a:p>
        </p:txBody>
      </p:sp>
    </p:spTree>
  </p:cSld>
  <p:clrMapOvr>
    <a:masterClrMapping/>
  </p:clrMapOvr>
</p:sld>
</file>

<file path=ppt/theme/theme1.xml><?xml version="1.0" encoding="utf-8"?>
<a:theme xmlns:a="http://schemas.openxmlformats.org/drawingml/2006/main" name="HC03 Swiss">
  <a:themeElements>
    <a:clrScheme name="HC03 Swiss">
      <a:dk1>
        <a:srgbClr val="111111"/>
      </a:dk1>
      <a:lt1>
        <a:srgbClr val="FFFFFF"/>
      </a:lt1>
      <a:dk2>
        <a:srgbClr val="111111"/>
      </a:dk2>
      <a:lt2>
        <a:srgbClr val="F1F1EE"/>
      </a:lt2>
      <a:accent1>
        <a:srgbClr val="E63312"/>
      </a:accent1>
      <a:accent2>
        <a:srgbClr val="111111"/>
      </a:accent2>
      <a:accent3>
        <a:srgbClr val="1F7A3A"/>
      </a:accent3>
      <a:accent4>
        <a:srgbClr val="1D4ED8"/>
      </a:accent4>
      <a:accent5>
        <a:srgbClr val="666666"/>
      </a:accent5>
      <a:accent6>
        <a:srgbClr val="D8D8D4"/>
      </a:accent6>
      <a:hlink>
        <a:srgbClr val="1D4ED8"/>
      </a:hlink>
      <a:folHlink>
        <a:srgbClr val="E63312"/>
      </a:folHlink>
    </a:clrScheme>
    <a:fontScheme name="HC03 Swiss">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Antibiotic Stewardship Copilot</dc:title>
  <dc:subject>Hackatopia 2K26 · HC-03</dc:subject>
  <dc:creator>HC-03 team</dc:creator>
  <cp:lastModifiedBy>HC-03 team</cp:lastModifiedBy>
  <cp:revision>1</cp:revision>
  <dcterms:created xsi:type="dcterms:W3CDTF">2026-10-09T05:52:02Z</dcterms:created>
  <dcterms:modified xsi:type="dcterms:W3CDTF">2026-10-09T05:52:02Z</dcterms:modified>
</cp:coreProperties>
</file>